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42" r:id="rId2"/>
    <p:sldId id="343" r:id="rId3"/>
    <p:sldId id="301" r:id="rId4"/>
    <p:sldId id="258" r:id="rId5"/>
    <p:sldId id="302" r:id="rId6"/>
    <p:sldId id="306" r:id="rId7"/>
    <p:sldId id="303" r:id="rId8"/>
    <p:sldId id="304" r:id="rId9"/>
    <p:sldId id="305" r:id="rId10"/>
    <p:sldId id="344" r:id="rId11"/>
    <p:sldId id="345" r:id="rId12"/>
    <p:sldId id="346" r:id="rId13"/>
    <p:sldId id="347" r:id="rId14"/>
    <p:sldId id="348" r:id="rId15"/>
    <p:sldId id="34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3"/>
    <p:restoredTop sz="94663"/>
  </p:normalViewPr>
  <p:slideViewPr>
    <p:cSldViewPr snapToGrid="0" snapToObjects="1">
      <p:cViewPr varScale="1">
        <p:scale>
          <a:sx n="82" d="100"/>
          <a:sy n="82" d="100"/>
        </p:scale>
        <p:origin x="10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1C946-F890-5640-9B5A-CAFF4EC0971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A7CA8-5CAC-234B-BDEE-886DD046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65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72C7-6C95-0A47-863B-10D9A23EE2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Design and Analysis of Algorithm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E06D0-B013-7547-BFC6-41D7F2F657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87096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Velagapudi Ramakrishna Siddhartha Engineering College</a:t>
            </a:r>
          </a:p>
          <a:p>
            <a:r>
              <a:rPr lang="en-US" dirty="0"/>
              <a:t>Computer Science and Engineering</a:t>
            </a:r>
          </a:p>
          <a:p>
            <a:r>
              <a:rPr lang="en-US" dirty="0"/>
              <a:t>Slides by: Arunkumar Gopu, Dr. M. </a:t>
            </a:r>
            <a:r>
              <a:rPr lang="en-US" dirty="0" err="1"/>
              <a:t>Sobhana</a:t>
            </a:r>
            <a:r>
              <a:rPr lang="en-US" dirty="0"/>
              <a:t>, Mr. B. </a:t>
            </a:r>
            <a:r>
              <a:rPr lang="en-US" dirty="0" err="1"/>
              <a:t>Jayanag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B05A3-E707-EC4C-8FA0-B4E6F584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D5C2D-0E56-864F-831D-312DBEBE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E4D-144F-8242-9E9B-69E4A254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91CE-F175-584D-94C1-418BEBCA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141E-4EF8-824C-9111-4F13C2C9433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You can use this slide for bullets or only images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4072-1F71-D347-A922-F5F146DB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9ABD-DF9D-3341-B60B-F44A943A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A4AD-B588-AE4C-9B26-7A141748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2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91CE-F175-584D-94C1-418BEBCADD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99114"/>
            <a:ext cx="10515600" cy="172334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Session Number &lt;here&gt;</a:t>
            </a:r>
            <a:br>
              <a:rPr lang="en-GB" dirty="0"/>
            </a:br>
            <a:r>
              <a:rPr lang="en-GB" dirty="0"/>
              <a:t>&lt;Topic Name&gt;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4072-1F71-D347-A922-F5F146DB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99ABD-DF9D-3341-B60B-F44A943A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A4AD-B588-AE4C-9B26-7A141748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3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9108-7F65-2241-811A-E8FB9727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Algorithm or Program Slide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11092-B16E-4742-95E0-B1E86183B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9144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3716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18288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6ECF0-132C-4249-A6F6-DABA47904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1pPr>
            <a:lvl2pPr marL="4572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2pPr>
            <a:lvl3pPr marL="9144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3pPr>
            <a:lvl4pPr marL="13716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4pPr>
            <a:lvl5pPr marL="1828800" indent="0">
              <a:spcBef>
                <a:spcPts val="0"/>
              </a:spcBef>
              <a:buNone/>
              <a:defRPr sz="1800" b="0" i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E2ED6-450D-C649-92D0-C3B6BFDE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4713F-0828-0541-9766-F073AE08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8E026-1FC5-3948-BBB9-CE5A218A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9108-7F65-2241-811A-E8FB9727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Slide with Image and Explanation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E2ED6-450D-C649-92D0-C3B6BFDE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38F39-71C8-9B40-8C11-C392FA8ABAE1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4713F-0828-0541-9766-F073AE08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8E026-1FC5-3948-BBB9-CE5A218A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EFFE62-707F-C047-AA17-058A098D97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25624"/>
            <a:ext cx="61722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913163D-4076-E04F-BC55-B163BFCFE7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9002" y="1825623"/>
            <a:ext cx="41148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2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77C107-F882-1841-876F-D19722AE5C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BA30C-4B74-B64B-98FF-61A8E1112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FB578-B797-0B42-B561-F961B683EE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E3B337-278F-3041-BF85-F384A67696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40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B9E4-3FEE-5946-9A0F-014CC6BB1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D2E6B-649B-7946-9F6B-E48C7C25F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51059-14D8-5C42-B1B3-40ADCBE8E68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FBB9F7DE-8E0D-CE4F-8A92-045293D1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9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4" r:id="rId5"/>
    <p:sldLayoutId id="21474836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AA1D8DB-ADC7-354D-A229-DC7EB370F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914400"/>
          </a:xfrm>
        </p:spPr>
        <p:txBody>
          <a:bodyPr/>
          <a:lstStyle/>
          <a:p>
            <a:r>
              <a:rPr lang="en-US" altLang="zh-TW" sz="4000">
                <a:solidFill>
                  <a:srgbClr val="C00000"/>
                </a:solidFill>
                <a:ea typeface="新細明體" panose="02020500000000000000" pitchFamily="18" charset="-120"/>
              </a:rPr>
              <a:t>Properties of a Spanning Tree</a:t>
            </a:r>
            <a:endParaRPr lang="en-US" altLang="en-US" sz="4000">
              <a:solidFill>
                <a:srgbClr val="C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01FCA96-90A1-674D-AF33-B26ABCD3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524000"/>
            <a:ext cx="7848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TW" sz="2800" kern="0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The spanning tree of a </a:t>
            </a:r>
            <a:r>
              <a:rPr lang="en-US" altLang="zh-TW" sz="2800" i="1" kern="0" dirty="0">
                <a:solidFill>
                  <a:srgbClr val="0070C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n</a:t>
            </a:r>
            <a:r>
              <a:rPr lang="en-US" altLang="zh-TW" sz="2800" kern="0" dirty="0">
                <a:solidFill>
                  <a:srgbClr val="0070C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-vertex </a:t>
            </a:r>
            <a:r>
              <a:rPr lang="en-US" altLang="zh-TW" sz="2800" kern="0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undirected graph has exactly </a:t>
            </a:r>
            <a:r>
              <a:rPr lang="en-US" altLang="zh-TW" sz="2800" i="1" kern="0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n </a:t>
            </a:r>
            <a:r>
              <a:rPr lang="en-US" altLang="zh-TW" sz="2800" kern="0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– 1 edges.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TW" sz="2800" kern="0" dirty="0">
              <a:solidFill>
                <a:schemeClr val="bg1"/>
              </a:solidFill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TW" sz="2800" kern="0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It connects all the vertices in the graph.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TW" sz="2800" kern="0" dirty="0">
              <a:latin typeface="Times New Roman" pitchFamily="18" charset="0"/>
              <a:ea typeface="新細明體" pitchFamily="18" charset="-12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TW" sz="2800" kern="0" dirty="0"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A spanning tree has </a:t>
            </a:r>
            <a:r>
              <a:rPr lang="en-US" altLang="zh-TW" sz="2800" i="1" kern="0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no cycles.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777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0E6A1226-2834-F645-AAF5-9595A130D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513013"/>
            <a:ext cx="288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>
                <a:solidFill>
                  <a:srgbClr val="0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Undirected Graph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7E77286B-FA74-2F4F-B10D-8A3951886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105400"/>
            <a:ext cx="355123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>
                <a:solidFill>
                  <a:srgbClr val="0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Some Spanning Trees</a:t>
            </a:r>
          </a:p>
        </p:txBody>
      </p:sp>
      <p:sp>
        <p:nvSpPr>
          <p:cNvPr id="4" name="AutoShape 45">
            <a:extLst>
              <a:ext uri="{FF2B5EF4-FFF2-40B4-BE49-F238E27FC236}">
                <a16:creationId xmlns:a16="http://schemas.microsoft.com/office/drawing/2014/main" id="{8D4AD5FF-CB02-0749-A5E7-99907E851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4" y="1169989"/>
            <a:ext cx="503237" cy="72072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9221" name="Rectangle 46">
            <a:extLst>
              <a:ext uri="{FF2B5EF4-FFF2-40B4-BE49-F238E27FC236}">
                <a16:creationId xmlns:a16="http://schemas.microsoft.com/office/drawing/2014/main" id="{08618F3A-3E55-6746-9364-26FB22E89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0"/>
            <a:ext cx="457200" cy="3048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bg1"/>
                </a:solidFill>
              </a:rPr>
              <a:t>Example</a:t>
            </a:r>
            <a:r>
              <a:rPr lang="en-US" altLang="en-US"/>
              <a:t>:</a:t>
            </a:r>
          </a:p>
        </p:txBody>
      </p:sp>
      <p:sp>
        <p:nvSpPr>
          <p:cNvPr id="9222" name="Oval 86">
            <a:extLst>
              <a:ext uri="{FF2B5EF4-FFF2-40B4-BE49-F238E27FC236}">
                <a16:creationId xmlns:a16="http://schemas.microsoft.com/office/drawing/2014/main" id="{F53D22A5-9830-8E48-B602-6FA02D10E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838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9223" name="Oval 87">
            <a:extLst>
              <a:ext uri="{FF2B5EF4-FFF2-40B4-BE49-F238E27FC236}">
                <a16:creationId xmlns:a16="http://schemas.microsoft.com/office/drawing/2014/main" id="{5E933270-9D65-3544-AC0C-74E228EB3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76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9224" name="Oval 88">
            <a:extLst>
              <a:ext uri="{FF2B5EF4-FFF2-40B4-BE49-F238E27FC236}">
                <a16:creationId xmlns:a16="http://schemas.microsoft.com/office/drawing/2014/main" id="{29752E1F-A792-9347-86E6-6D84D9F42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676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9225" name="Oval 89">
            <a:extLst>
              <a:ext uri="{FF2B5EF4-FFF2-40B4-BE49-F238E27FC236}">
                <a16:creationId xmlns:a16="http://schemas.microsoft.com/office/drawing/2014/main" id="{FCE70684-D01C-BA4A-A41E-8E07F59E3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838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9226" name="Line 90">
            <a:extLst>
              <a:ext uri="{FF2B5EF4-FFF2-40B4-BE49-F238E27FC236}">
                <a16:creationId xmlns:a16="http://schemas.microsoft.com/office/drawing/2014/main" id="{E232A546-1A91-0B41-8A0B-B92EDEEBA0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29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27" name="Line 91">
            <a:extLst>
              <a:ext uri="{FF2B5EF4-FFF2-40B4-BE49-F238E27FC236}">
                <a16:creationId xmlns:a16="http://schemas.microsoft.com/office/drawing/2014/main" id="{C0252259-2F67-5C4E-9A3E-0539E0B61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066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28" name="Line 92">
            <a:extLst>
              <a:ext uri="{FF2B5EF4-FFF2-40B4-BE49-F238E27FC236}">
                <a16:creationId xmlns:a16="http://schemas.microsoft.com/office/drawing/2014/main" id="{D09D4663-F26E-4F4C-83CA-96E3D47FD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1905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29" name="Line 93">
            <a:extLst>
              <a:ext uri="{FF2B5EF4-FFF2-40B4-BE49-F238E27FC236}">
                <a16:creationId xmlns:a16="http://schemas.microsoft.com/office/drawing/2014/main" id="{B0C37F1E-DF6C-9047-9AFB-D35D879D52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29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0" name="Line 94">
            <a:extLst>
              <a:ext uri="{FF2B5EF4-FFF2-40B4-BE49-F238E27FC236}">
                <a16:creationId xmlns:a16="http://schemas.microsoft.com/office/drawing/2014/main" id="{B0FAC0E1-5628-6240-8F4F-2564451C9A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1219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1" name="Line 95">
            <a:extLst>
              <a:ext uri="{FF2B5EF4-FFF2-40B4-BE49-F238E27FC236}">
                <a16:creationId xmlns:a16="http://schemas.microsoft.com/office/drawing/2014/main" id="{00182B0D-C879-084D-B19F-5F380021E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219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2" name="Oval 96">
            <a:extLst>
              <a:ext uri="{FF2B5EF4-FFF2-40B4-BE49-F238E27FC236}">
                <a16:creationId xmlns:a16="http://schemas.microsoft.com/office/drawing/2014/main" id="{4804B700-4781-0F41-A2A0-20993989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762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9233" name="Oval 97">
            <a:extLst>
              <a:ext uri="{FF2B5EF4-FFF2-40B4-BE49-F238E27FC236}">
                <a16:creationId xmlns:a16="http://schemas.microsoft.com/office/drawing/2014/main" id="{FC74AAFE-A5DB-6948-BCFE-67D06E14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00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9234" name="Oval 98">
            <a:extLst>
              <a:ext uri="{FF2B5EF4-FFF2-40B4-BE49-F238E27FC236}">
                <a16:creationId xmlns:a16="http://schemas.microsoft.com/office/drawing/2014/main" id="{5AD55B8E-BD7A-DB48-BA4D-B13C74039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600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9235" name="Oval 99">
            <a:extLst>
              <a:ext uri="{FF2B5EF4-FFF2-40B4-BE49-F238E27FC236}">
                <a16:creationId xmlns:a16="http://schemas.microsoft.com/office/drawing/2014/main" id="{961F37FB-4DDA-D24D-A665-9CA85A233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762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9236" name="Line 100">
            <a:extLst>
              <a:ext uri="{FF2B5EF4-FFF2-40B4-BE49-F238E27FC236}">
                <a16:creationId xmlns:a16="http://schemas.microsoft.com/office/drawing/2014/main" id="{2B2D79C8-A551-FD49-AEF2-12E55E3C9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7" name="Line 101">
            <a:extLst>
              <a:ext uri="{FF2B5EF4-FFF2-40B4-BE49-F238E27FC236}">
                <a16:creationId xmlns:a16="http://schemas.microsoft.com/office/drawing/2014/main" id="{385780BD-DFAF-D441-BA0F-EBFE12BCB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82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8" name="Line 103">
            <a:extLst>
              <a:ext uri="{FF2B5EF4-FFF2-40B4-BE49-F238E27FC236}">
                <a16:creationId xmlns:a16="http://schemas.microsoft.com/office/drawing/2014/main" id="{E9DA36DB-1D3D-3544-BCE5-1B1216B0D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39" name="Oval 126">
            <a:extLst>
              <a:ext uri="{FF2B5EF4-FFF2-40B4-BE49-F238E27FC236}">
                <a16:creationId xmlns:a16="http://schemas.microsoft.com/office/drawing/2014/main" id="{47BB413F-E724-2649-A081-276327FA0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762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9240" name="Oval 127">
            <a:extLst>
              <a:ext uri="{FF2B5EF4-FFF2-40B4-BE49-F238E27FC236}">
                <a16:creationId xmlns:a16="http://schemas.microsoft.com/office/drawing/2014/main" id="{944F37E2-9F3C-E64D-A71E-C4A5FE19C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1600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9241" name="Oval 128">
            <a:extLst>
              <a:ext uri="{FF2B5EF4-FFF2-40B4-BE49-F238E27FC236}">
                <a16:creationId xmlns:a16="http://schemas.microsoft.com/office/drawing/2014/main" id="{6AD82D19-9B8C-6846-94F8-63DF9D02D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16002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9242" name="Oval 129">
            <a:extLst>
              <a:ext uri="{FF2B5EF4-FFF2-40B4-BE49-F238E27FC236}">
                <a16:creationId xmlns:a16="http://schemas.microsoft.com/office/drawing/2014/main" id="{B1DB4ED6-6E15-8A43-AB4D-D8DA4D28E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762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9243" name="Line 131">
            <a:extLst>
              <a:ext uri="{FF2B5EF4-FFF2-40B4-BE49-F238E27FC236}">
                <a16:creationId xmlns:a16="http://schemas.microsoft.com/office/drawing/2014/main" id="{75BA190A-DF0E-6A4C-B966-5BDC357B1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99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44" name="Line 132">
            <a:extLst>
              <a:ext uri="{FF2B5EF4-FFF2-40B4-BE49-F238E27FC236}">
                <a16:creationId xmlns:a16="http://schemas.microsoft.com/office/drawing/2014/main" id="{0DCBB9FD-D6AA-AF47-A0B0-DFDB631A5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82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45" name="Line 133">
            <a:extLst>
              <a:ext uri="{FF2B5EF4-FFF2-40B4-BE49-F238E27FC236}">
                <a16:creationId xmlns:a16="http://schemas.microsoft.com/office/drawing/2014/main" id="{0323F955-CCFD-D44E-8A29-6FC09B91E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21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46" name="Oval 137">
            <a:extLst>
              <a:ext uri="{FF2B5EF4-FFF2-40B4-BE49-F238E27FC236}">
                <a16:creationId xmlns:a16="http://schemas.microsoft.com/office/drawing/2014/main" id="{9B8B5C51-340D-1F47-853B-AC1298EBE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438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9247" name="Oval 138">
            <a:extLst>
              <a:ext uri="{FF2B5EF4-FFF2-40B4-BE49-F238E27FC236}">
                <a16:creationId xmlns:a16="http://schemas.microsoft.com/office/drawing/2014/main" id="{6B4B37A2-7283-6A4E-9995-8C7948F8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9248" name="Oval 139">
            <a:extLst>
              <a:ext uri="{FF2B5EF4-FFF2-40B4-BE49-F238E27FC236}">
                <a16:creationId xmlns:a16="http://schemas.microsoft.com/office/drawing/2014/main" id="{40E0BDEE-5CBA-9249-A5B2-582F02B36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9249" name="Oval 140">
            <a:extLst>
              <a:ext uri="{FF2B5EF4-FFF2-40B4-BE49-F238E27FC236}">
                <a16:creationId xmlns:a16="http://schemas.microsoft.com/office/drawing/2014/main" id="{FD8A7444-347A-2A41-8F94-CA0BEF4BC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438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9250" name="Line 141">
            <a:extLst>
              <a:ext uri="{FF2B5EF4-FFF2-40B4-BE49-F238E27FC236}">
                <a16:creationId xmlns:a16="http://schemas.microsoft.com/office/drawing/2014/main" id="{18914165-4E29-1540-A835-C30F14618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895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51" name="Line 143">
            <a:extLst>
              <a:ext uri="{FF2B5EF4-FFF2-40B4-BE49-F238E27FC236}">
                <a16:creationId xmlns:a16="http://schemas.microsoft.com/office/drawing/2014/main" id="{0E8C27F9-BE68-9048-B00E-43AC7B29C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895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52" name="Oval 144">
            <a:extLst>
              <a:ext uri="{FF2B5EF4-FFF2-40B4-BE49-F238E27FC236}">
                <a16:creationId xmlns:a16="http://schemas.microsoft.com/office/drawing/2014/main" id="{0BB7BD19-F33B-0C43-976E-2E1DE10F2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438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9253" name="Oval 145">
            <a:extLst>
              <a:ext uri="{FF2B5EF4-FFF2-40B4-BE49-F238E27FC236}">
                <a16:creationId xmlns:a16="http://schemas.microsoft.com/office/drawing/2014/main" id="{12EBF29E-5EA4-7340-8EC6-C35F400C8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9254" name="Oval 146">
            <a:extLst>
              <a:ext uri="{FF2B5EF4-FFF2-40B4-BE49-F238E27FC236}">
                <a16:creationId xmlns:a16="http://schemas.microsoft.com/office/drawing/2014/main" id="{0414CD99-FCFA-374E-9177-E940B415C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32766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9255" name="Oval 147">
            <a:extLst>
              <a:ext uri="{FF2B5EF4-FFF2-40B4-BE49-F238E27FC236}">
                <a16:creationId xmlns:a16="http://schemas.microsoft.com/office/drawing/2014/main" id="{D4C2F70D-6BB8-654B-8B0B-161C83EA7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4384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9256" name="Line 148">
            <a:extLst>
              <a:ext uri="{FF2B5EF4-FFF2-40B4-BE49-F238E27FC236}">
                <a16:creationId xmlns:a16="http://schemas.microsoft.com/office/drawing/2014/main" id="{74A0FF54-11E1-EB4A-A5DE-7004043C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57" name="Line 149">
            <a:extLst>
              <a:ext uri="{FF2B5EF4-FFF2-40B4-BE49-F238E27FC236}">
                <a16:creationId xmlns:a16="http://schemas.microsoft.com/office/drawing/2014/main" id="{B9A07EC1-3D3B-D94B-935F-8BBCE8848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05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58" name="Line 150">
            <a:extLst>
              <a:ext uri="{FF2B5EF4-FFF2-40B4-BE49-F238E27FC236}">
                <a16:creationId xmlns:a16="http://schemas.microsoft.com/office/drawing/2014/main" id="{E837E01D-C682-784B-99CD-1885A882C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2895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59" name="Line 151">
            <a:extLst>
              <a:ext uri="{FF2B5EF4-FFF2-40B4-BE49-F238E27FC236}">
                <a16:creationId xmlns:a16="http://schemas.microsoft.com/office/drawing/2014/main" id="{EB27B049-2075-8843-9F6E-076E738EAE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9260" name="Rectangle 182">
            <a:extLst>
              <a:ext uri="{FF2B5EF4-FFF2-40B4-BE49-F238E27FC236}">
                <a16:creationId xmlns:a16="http://schemas.microsoft.com/office/drawing/2014/main" id="{DE3DA25A-EED1-594A-B356-CBF0695B7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762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9261" name="Rectangle 183">
            <a:extLst>
              <a:ext uri="{FF2B5EF4-FFF2-40B4-BE49-F238E27FC236}">
                <a16:creationId xmlns:a16="http://schemas.microsoft.com/office/drawing/2014/main" id="{11E8E538-D5F4-F14C-8A45-712081629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371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9262" name="Rectangle 184">
            <a:extLst>
              <a:ext uri="{FF2B5EF4-FFF2-40B4-BE49-F238E27FC236}">
                <a16:creationId xmlns:a16="http://schemas.microsoft.com/office/drawing/2014/main" id="{A9EED715-EB91-FF4B-A129-E9C09BAC3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81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9263" name="Rectangle 185">
            <a:extLst>
              <a:ext uri="{FF2B5EF4-FFF2-40B4-BE49-F238E27FC236}">
                <a16:creationId xmlns:a16="http://schemas.microsoft.com/office/drawing/2014/main" id="{D3C04F28-C3FA-0E4A-8F3F-170ABCE98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371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9264" name="Rectangle 186">
            <a:extLst>
              <a:ext uri="{FF2B5EF4-FFF2-40B4-BE49-F238E27FC236}">
                <a16:creationId xmlns:a16="http://schemas.microsoft.com/office/drawing/2014/main" id="{3BDFC8D5-17F3-124D-9981-87A8FBB03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219200"/>
            <a:ext cx="228600" cy="76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5</a:t>
            </a:r>
          </a:p>
        </p:txBody>
      </p:sp>
      <p:sp>
        <p:nvSpPr>
          <p:cNvPr id="9265" name="Rectangle 187">
            <a:extLst>
              <a:ext uri="{FF2B5EF4-FFF2-40B4-BE49-F238E27FC236}">
                <a16:creationId xmlns:a16="http://schemas.microsoft.com/office/drawing/2014/main" id="{42F50D52-E180-4A47-8E79-8627C747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524000"/>
            <a:ext cx="228600" cy="76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6</a:t>
            </a:r>
          </a:p>
        </p:txBody>
      </p:sp>
      <p:sp>
        <p:nvSpPr>
          <p:cNvPr id="9266" name="Rectangle 189">
            <a:extLst>
              <a:ext uri="{FF2B5EF4-FFF2-40B4-BE49-F238E27FC236}">
                <a16:creationId xmlns:a16="http://schemas.microsoft.com/office/drawing/2014/main" id="{4824E729-821D-864F-AD5E-5E9EB4228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219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9267" name="Rectangle 190">
            <a:extLst>
              <a:ext uri="{FF2B5EF4-FFF2-40B4-BE49-F238E27FC236}">
                <a16:creationId xmlns:a16="http://schemas.microsoft.com/office/drawing/2014/main" id="{E63B609E-EB1C-D140-9804-ECC5FFCF0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05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9268" name="Rectangle 191">
            <a:extLst>
              <a:ext uri="{FF2B5EF4-FFF2-40B4-BE49-F238E27FC236}">
                <a16:creationId xmlns:a16="http://schemas.microsoft.com/office/drawing/2014/main" id="{D6FFC2BE-3BA8-2B47-810D-2DB805F2B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295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9269" name="Rectangle 192">
            <a:extLst>
              <a:ext uri="{FF2B5EF4-FFF2-40B4-BE49-F238E27FC236}">
                <a16:creationId xmlns:a16="http://schemas.microsoft.com/office/drawing/2014/main" id="{EA70B547-0B5B-744B-97A6-E441184AC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685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9270" name="Rectangle 194">
            <a:extLst>
              <a:ext uri="{FF2B5EF4-FFF2-40B4-BE49-F238E27FC236}">
                <a16:creationId xmlns:a16="http://schemas.microsoft.com/office/drawing/2014/main" id="{0400EBDD-E7D4-F64E-9EC8-11F0A404B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1905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9271" name="Rectangle 195">
            <a:extLst>
              <a:ext uri="{FF2B5EF4-FFF2-40B4-BE49-F238E27FC236}">
                <a16:creationId xmlns:a16="http://schemas.microsoft.com/office/drawing/2014/main" id="{721C6D4F-EB14-A346-9659-AF8E1A55A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371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9272" name="Rectangle 196">
            <a:extLst>
              <a:ext uri="{FF2B5EF4-FFF2-40B4-BE49-F238E27FC236}">
                <a16:creationId xmlns:a16="http://schemas.microsoft.com/office/drawing/2014/main" id="{7F3A238D-5CAC-9548-882C-1B7F59859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362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9273" name="Rectangle 197">
            <a:extLst>
              <a:ext uri="{FF2B5EF4-FFF2-40B4-BE49-F238E27FC236}">
                <a16:creationId xmlns:a16="http://schemas.microsoft.com/office/drawing/2014/main" id="{33750F5B-2FC7-374E-BA40-DA9F29763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971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9274" name="Rectangle 199">
            <a:extLst>
              <a:ext uri="{FF2B5EF4-FFF2-40B4-BE49-F238E27FC236}">
                <a16:creationId xmlns:a16="http://schemas.microsoft.com/office/drawing/2014/main" id="{1C42EE8F-4A23-C849-9B14-31ABABB0A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048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9275" name="Rectangle 200">
            <a:extLst>
              <a:ext uri="{FF2B5EF4-FFF2-40B4-BE49-F238E27FC236}">
                <a16:creationId xmlns:a16="http://schemas.microsoft.com/office/drawing/2014/main" id="{7D5CD093-466D-5C48-B662-D163CE2D9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2286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9276" name="Rectangle 201">
            <a:extLst>
              <a:ext uri="{FF2B5EF4-FFF2-40B4-BE49-F238E27FC236}">
                <a16:creationId xmlns:a16="http://schemas.microsoft.com/office/drawing/2014/main" id="{8C00B0D1-DCAC-E248-800C-827A0BF76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895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9277" name="Rectangle 202">
            <a:extLst>
              <a:ext uri="{FF2B5EF4-FFF2-40B4-BE49-F238E27FC236}">
                <a16:creationId xmlns:a16="http://schemas.microsoft.com/office/drawing/2014/main" id="{A4783EB8-B9AB-704F-AC2A-EBA979E70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581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9278" name="Rectangle 227">
            <a:extLst>
              <a:ext uri="{FF2B5EF4-FFF2-40B4-BE49-F238E27FC236}">
                <a16:creationId xmlns:a16="http://schemas.microsoft.com/office/drawing/2014/main" id="{3E9F8244-53CA-8647-932F-B4982C211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038600"/>
            <a:ext cx="12192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800">
                <a:solidFill>
                  <a:schemeClr val="accent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9176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3C267E-8375-AC43-917B-DB02D37EF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685800"/>
          </a:xfrm>
        </p:spPr>
        <p:txBody>
          <a:bodyPr/>
          <a:lstStyle/>
          <a:p>
            <a:pPr algn="l"/>
            <a:r>
              <a:rPr lang="en-US" altLang="zh-TW" sz="2800">
                <a:solidFill>
                  <a:srgbClr val="C00000"/>
                </a:solidFill>
                <a:ea typeface="新細明體" panose="02020500000000000000" pitchFamily="18" charset="-120"/>
              </a:rPr>
              <a:t>Minimum Cost  Spanning Tree (MST)</a:t>
            </a:r>
            <a:endParaRPr lang="en-US" altLang="en-US" sz="2800">
              <a:solidFill>
                <a:srgbClr val="C00000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D03EEC7-4563-664A-BCC0-F7528A2C2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38200"/>
            <a:ext cx="8610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zh-TW" sz="2400" kern="0">
                <a:ea typeface="新細明體" pitchFamily="18" charset="-120"/>
              </a:rPr>
              <a:t>A </a:t>
            </a:r>
            <a:r>
              <a:rPr lang="en-US" altLang="zh-TW" sz="2400" i="1" kern="0">
                <a:solidFill>
                  <a:srgbClr val="0033CC"/>
                </a:solidFill>
                <a:ea typeface="新細明體" pitchFamily="18" charset="-120"/>
              </a:rPr>
              <a:t>minimum</a:t>
            </a:r>
            <a:r>
              <a:rPr lang="en-US" altLang="zh-TW" sz="2400" i="1" kern="0">
                <a:ea typeface="新細明體" pitchFamily="18" charset="-120"/>
              </a:rPr>
              <a:t> </a:t>
            </a:r>
            <a:r>
              <a:rPr lang="en-US" altLang="zh-TW" sz="2400" i="1" kern="0">
                <a:solidFill>
                  <a:srgbClr val="0033CC"/>
                </a:solidFill>
                <a:ea typeface="新細明體" pitchFamily="18" charset="-120"/>
              </a:rPr>
              <a:t>spanning tree</a:t>
            </a:r>
            <a:r>
              <a:rPr lang="en-US" altLang="zh-TW" sz="2400" kern="0">
                <a:ea typeface="新細明體" pitchFamily="18" charset="-120"/>
              </a:rPr>
              <a:t> is the one among all the spanning trees with the </a:t>
            </a:r>
            <a:r>
              <a:rPr lang="en-US" altLang="zh-TW" sz="2400" i="1" kern="0">
                <a:solidFill>
                  <a:srgbClr val="FF0000"/>
                </a:solidFill>
                <a:ea typeface="新細明體" pitchFamily="18" charset="-120"/>
              </a:rPr>
              <a:t>smallest total cost.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  <a:defRPr/>
            </a:pPr>
            <a:endParaRPr lang="en-US" altLang="zh-TW" sz="2400" i="1" kern="0">
              <a:solidFill>
                <a:srgbClr val="0033CC"/>
              </a:solidFill>
              <a:ea typeface="新細明體" pitchFamily="18" charset="-12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en-US" sz="2400" kern="0"/>
          </a:p>
        </p:txBody>
      </p:sp>
      <p:sp>
        <p:nvSpPr>
          <p:cNvPr id="10244" name="Oval 4">
            <a:extLst>
              <a:ext uri="{FF2B5EF4-FFF2-40B4-BE49-F238E27FC236}">
                <a16:creationId xmlns:a16="http://schemas.microsoft.com/office/drawing/2014/main" id="{E051AA45-BCE7-7E45-BC2F-A31C21E0A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0245" name="Oval 5">
            <a:extLst>
              <a:ext uri="{FF2B5EF4-FFF2-40B4-BE49-F238E27FC236}">
                <a16:creationId xmlns:a16="http://schemas.microsoft.com/office/drawing/2014/main" id="{65286D0E-D8BE-0A4F-9071-2B61C1EA0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429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60D0A92E-A960-3343-B89F-BB130EE28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429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10247" name="Oval 7">
            <a:extLst>
              <a:ext uri="{FF2B5EF4-FFF2-40B4-BE49-F238E27FC236}">
                <a16:creationId xmlns:a16="http://schemas.microsoft.com/office/drawing/2014/main" id="{F87D682F-468D-FB41-A3D1-751AA6FF7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0248" name="Line 8">
            <a:extLst>
              <a:ext uri="{FF2B5EF4-FFF2-40B4-BE49-F238E27FC236}">
                <a16:creationId xmlns:a16="http://schemas.microsoft.com/office/drawing/2014/main" id="{291EB61C-8DC5-0D4B-8D45-5BF921E32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3AA3D1A7-A73A-5A40-B60A-A8E382918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0428E0FC-6AD7-6B40-B633-058C90F64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3BD82C2E-0A6D-4E45-8072-F2EF25FD7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8BD060BF-37E8-DA44-926C-C0F39A5504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29718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53" name="Line 13">
            <a:extLst>
              <a:ext uri="{FF2B5EF4-FFF2-40B4-BE49-F238E27FC236}">
                <a16:creationId xmlns:a16="http://schemas.microsoft.com/office/drawing/2014/main" id="{02F6DBBE-BEDA-FE4E-89A1-C7CF4476F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9718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CB93F30F-1CC6-A14A-A189-BC8E4CE66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514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C2156858-05C8-5C4A-8334-D7CC0036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124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56E2990E-C805-8247-91E8-5B693CC6B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733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A3F0FF62-F696-E643-998D-6F97DDBA2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124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65D6422F-ADE3-D14B-BC24-2C71496A8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971800"/>
            <a:ext cx="228600" cy="76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A572B5E6-7D32-4746-ADA3-48BE1B2F6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276600"/>
            <a:ext cx="228600" cy="76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5</a:t>
            </a:r>
          </a:p>
        </p:txBody>
      </p:sp>
      <p:sp>
        <p:nvSpPr>
          <p:cNvPr id="10260" name="Oval 20">
            <a:extLst>
              <a:ext uri="{FF2B5EF4-FFF2-40B4-BE49-F238E27FC236}">
                <a16:creationId xmlns:a16="http://schemas.microsoft.com/office/drawing/2014/main" id="{7A1C1178-1867-3C45-8D76-2693821C3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A</a:t>
            </a:r>
          </a:p>
        </p:txBody>
      </p:sp>
      <p:sp>
        <p:nvSpPr>
          <p:cNvPr id="10261" name="Oval 21">
            <a:extLst>
              <a:ext uri="{FF2B5EF4-FFF2-40B4-BE49-F238E27FC236}">
                <a16:creationId xmlns:a16="http://schemas.microsoft.com/office/drawing/2014/main" id="{1D6E12D2-6258-4349-A092-69329F815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429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</a:t>
            </a:r>
          </a:p>
        </p:txBody>
      </p:sp>
      <p:sp>
        <p:nvSpPr>
          <p:cNvPr id="10262" name="Oval 22">
            <a:extLst>
              <a:ext uri="{FF2B5EF4-FFF2-40B4-BE49-F238E27FC236}">
                <a16:creationId xmlns:a16="http://schemas.microsoft.com/office/drawing/2014/main" id="{C16BB379-53D6-AF49-B9E0-9C13D0406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34290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  </a:t>
            </a:r>
          </a:p>
        </p:txBody>
      </p:sp>
      <p:sp>
        <p:nvSpPr>
          <p:cNvPr id="10263" name="Oval 23">
            <a:extLst>
              <a:ext uri="{FF2B5EF4-FFF2-40B4-BE49-F238E27FC236}">
                <a16:creationId xmlns:a16="http://schemas.microsoft.com/office/drawing/2014/main" id="{97AE595C-7F37-9048-A629-20DC1F968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590800"/>
            <a:ext cx="457200" cy="457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B</a:t>
            </a:r>
          </a:p>
        </p:txBody>
      </p:sp>
      <p:sp>
        <p:nvSpPr>
          <p:cNvPr id="10264" name="Line 24">
            <a:extLst>
              <a:ext uri="{FF2B5EF4-FFF2-40B4-BE49-F238E27FC236}">
                <a16:creationId xmlns:a16="http://schemas.microsoft.com/office/drawing/2014/main" id="{18A89CA8-D861-4E46-B4FC-DBBD04F50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65" name="Line 25">
            <a:extLst>
              <a:ext uri="{FF2B5EF4-FFF2-40B4-BE49-F238E27FC236}">
                <a16:creationId xmlns:a16="http://schemas.microsoft.com/office/drawing/2014/main" id="{626ACEE1-03E4-9742-ACAC-3846A0413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657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66" name="Line 26">
            <a:extLst>
              <a:ext uri="{FF2B5EF4-FFF2-40B4-BE49-F238E27FC236}">
                <a16:creationId xmlns:a16="http://schemas.microsoft.com/office/drawing/2014/main" id="{1001C42B-7483-9644-8775-E9A14C9B7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0267" name="Rectangle 27">
            <a:extLst>
              <a:ext uri="{FF2B5EF4-FFF2-40B4-BE49-F238E27FC236}">
                <a16:creationId xmlns:a16="http://schemas.microsoft.com/office/drawing/2014/main" id="{65176823-8BAB-DA4E-870C-BC6020E2B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438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10268" name="Rectangle 28">
            <a:extLst>
              <a:ext uri="{FF2B5EF4-FFF2-40B4-BE49-F238E27FC236}">
                <a16:creationId xmlns:a16="http://schemas.microsoft.com/office/drawing/2014/main" id="{EA7945CB-F1F4-8645-BBB6-801BE6977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048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71992027-BA2F-FC40-8BDD-1C6E48E12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733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47098D46-2AE7-6549-A875-5EA76E9B3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4" y="4191000"/>
            <a:ext cx="2884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>
                <a:solidFill>
                  <a:srgbClr val="0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Undirected Graph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16FD1B13-6375-AD4D-A5F0-58C4BB156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364" y="4191000"/>
            <a:ext cx="3551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sz="2400">
                <a:solidFill>
                  <a:srgbClr val="000000"/>
                </a:solidFill>
                <a:latin typeface="Comic Sans MS" panose="030F0902030302020204" pitchFamily="66" charset="0"/>
                <a:ea typeface="新細明體" panose="02020500000000000000" pitchFamily="18" charset="-120"/>
              </a:rPr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4129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35806951-DFC2-5642-A0C5-778F9DC47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6" y="2247900"/>
            <a:ext cx="474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3600">
                <a:solidFill>
                  <a:srgbClr val="CC3300"/>
                </a:solidFill>
                <a:ea typeface="新細明體" panose="02020500000000000000" pitchFamily="18" charset="-120"/>
                <a:sym typeface="Wingdings" pitchFamily="2" charset="2"/>
              </a:rPr>
              <a:t>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21C9E21-7785-6142-A284-89AD962C99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zh-TW" sz="5400">
                <a:ea typeface="新細明體" panose="02020500000000000000" pitchFamily="18" charset="-120"/>
              </a:rPr>
              <a:t>Kruskal’s Algorithm</a:t>
            </a:r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8A86B254-DDF8-6A46-AB50-C2F34DD1311B}"/>
              </a:ext>
            </a:extLst>
          </p:cNvPr>
          <p:cNvGrpSpPr>
            <a:grpSpLocks/>
          </p:cNvGrpSpPr>
          <p:nvPr/>
        </p:nvGrpSpPr>
        <p:grpSpPr bwMode="auto">
          <a:xfrm>
            <a:off x="1828801" y="1473200"/>
            <a:ext cx="4608513" cy="1727200"/>
            <a:chOff x="612" y="2251"/>
            <a:chExt cx="2903" cy="1088"/>
          </a:xfrm>
        </p:grpSpPr>
        <p:sp>
          <p:nvSpPr>
            <p:cNvPr id="13359" name="Oval 5">
              <a:extLst>
                <a:ext uri="{FF2B5EF4-FFF2-40B4-BE49-F238E27FC236}">
                  <a16:creationId xmlns:a16="http://schemas.microsoft.com/office/drawing/2014/main" id="{3E377016-58CF-DF46-92A8-7C6485270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704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1</a:t>
              </a:r>
            </a:p>
          </p:txBody>
        </p:sp>
        <p:sp>
          <p:nvSpPr>
            <p:cNvPr id="13360" name="Oval 6">
              <a:extLst>
                <a:ext uri="{FF2B5EF4-FFF2-40B4-BE49-F238E27FC236}">
                  <a16:creationId xmlns:a16="http://schemas.microsoft.com/office/drawing/2014/main" id="{714E5F31-2F4B-5B42-B62C-36EA2BD59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251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2</a:t>
              </a:r>
            </a:p>
          </p:txBody>
        </p:sp>
        <p:sp>
          <p:nvSpPr>
            <p:cNvPr id="13361" name="Oval 7">
              <a:extLst>
                <a:ext uri="{FF2B5EF4-FFF2-40B4-BE49-F238E27FC236}">
                  <a16:creationId xmlns:a16="http://schemas.microsoft.com/office/drawing/2014/main" id="{3B605B2B-8E5C-8A42-803C-483E01617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3158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8</a:t>
              </a:r>
            </a:p>
          </p:txBody>
        </p:sp>
        <p:sp>
          <p:nvSpPr>
            <p:cNvPr id="13362" name="Oval 8">
              <a:extLst>
                <a:ext uri="{FF2B5EF4-FFF2-40B4-BE49-F238E27FC236}">
                  <a16:creationId xmlns:a16="http://schemas.microsoft.com/office/drawing/2014/main" id="{D87566EE-36BC-004D-9D9D-8C730414A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704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9</a:t>
              </a:r>
            </a:p>
          </p:txBody>
        </p:sp>
        <p:sp>
          <p:nvSpPr>
            <p:cNvPr id="13363" name="Oval 9">
              <a:extLst>
                <a:ext uri="{FF2B5EF4-FFF2-40B4-BE49-F238E27FC236}">
                  <a16:creationId xmlns:a16="http://schemas.microsoft.com/office/drawing/2014/main" id="{8DDE0DF4-5872-9E43-B099-50BB8DCB2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251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13364" name="Oval 10">
              <a:extLst>
                <a:ext uri="{FF2B5EF4-FFF2-40B4-BE49-F238E27FC236}">
                  <a16:creationId xmlns:a16="http://schemas.microsoft.com/office/drawing/2014/main" id="{9C26E717-F9F4-ED42-B310-2ED6174A2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158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7</a:t>
              </a:r>
            </a:p>
          </p:txBody>
        </p:sp>
        <p:sp>
          <p:nvSpPr>
            <p:cNvPr id="13365" name="Oval 11">
              <a:extLst>
                <a:ext uri="{FF2B5EF4-FFF2-40B4-BE49-F238E27FC236}">
                  <a16:creationId xmlns:a16="http://schemas.microsoft.com/office/drawing/2014/main" id="{B8E67520-86BE-504F-A663-C2E051FD1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704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5</a:t>
              </a:r>
            </a:p>
          </p:txBody>
        </p:sp>
        <p:sp>
          <p:nvSpPr>
            <p:cNvPr id="13366" name="Oval 12">
              <a:extLst>
                <a:ext uri="{FF2B5EF4-FFF2-40B4-BE49-F238E27FC236}">
                  <a16:creationId xmlns:a16="http://schemas.microsoft.com/office/drawing/2014/main" id="{01B8AD88-8398-2243-AEBE-54BE4EB90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251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4</a:t>
              </a:r>
            </a:p>
          </p:txBody>
        </p:sp>
        <p:sp>
          <p:nvSpPr>
            <p:cNvPr id="13367" name="Oval 13">
              <a:extLst>
                <a:ext uri="{FF2B5EF4-FFF2-40B4-BE49-F238E27FC236}">
                  <a16:creationId xmlns:a16="http://schemas.microsoft.com/office/drawing/2014/main" id="{167126C4-3DC4-3445-A883-760864F32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158"/>
              <a:ext cx="181" cy="181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6</a:t>
              </a:r>
            </a:p>
          </p:txBody>
        </p:sp>
        <p:cxnSp>
          <p:nvCxnSpPr>
            <p:cNvPr id="13368" name="AutoShape 14">
              <a:extLst>
                <a:ext uri="{FF2B5EF4-FFF2-40B4-BE49-F238E27FC236}">
                  <a16:creationId xmlns:a16="http://schemas.microsoft.com/office/drawing/2014/main" id="{B211C7BF-80BF-4B40-B5D4-7C991BD42374}"/>
                </a:ext>
              </a:extLst>
            </p:cNvPr>
            <p:cNvCxnSpPr>
              <a:cxnSpLocks noChangeShapeType="1"/>
              <a:stCxn id="13359" idx="7"/>
              <a:endCxn id="13360" idx="3"/>
            </p:cNvCxnSpPr>
            <p:nvPr/>
          </p:nvCxnSpPr>
          <p:spPr bwMode="auto">
            <a:xfrm flipV="1">
              <a:off x="766" y="2405"/>
              <a:ext cx="326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9" name="AutoShape 15">
              <a:extLst>
                <a:ext uri="{FF2B5EF4-FFF2-40B4-BE49-F238E27FC236}">
                  <a16:creationId xmlns:a16="http://schemas.microsoft.com/office/drawing/2014/main" id="{61353DBA-9613-444E-AF8E-6A27074FB0DC}"/>
                </a:ext>
              </a:extLst>
            </p:cNvPr>
            <p:cNvCxnSpPr>
              <a:cxnSpLocks noChangeShapeType="1"/>
              <a:stCxn id="13359" idx="5"/>
              <a:endCxn id="13361" idx="1"/>
            </p:cNvCxnSpPr>
            <p:nvPr/>
          </p:nvCxnSpPr>
          <p:spPr bwMode="auto">
            <a:xfrm>
              <a:off x="766" y="2858"/>
              <a:ext cx="327" cy="3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0" name="AutoShape 16">
              <a:extLst>
                <a:ext uri="{FF2B5EF4-FFF2-40B4-BE49-F238E27FC236}">
                  <a16:creationId xmlns:a16="http://schemas.microsoft.com/office/drawing/2014/main" id="{E45AE656-4C98-A24A-9D91-3DC722693C91}"/>
                </a:ext>
              </a:extLst>
            </p:cNvPr>
            <p:cNvCxnSpPr>
              <a:cxnSpLocks noChangeShapeType="1"/>
              <a:stCxn id="13361" idx="0"/>
              <a:endCxn id="13360" idx="4"/>
            </p:cNvCxnSpPr>
            <p:nvPr/>
          </p:nvCxnSpPr>
          <p:spPr bwMode="auto">
            <a:xfrm flipH="1" flipV="1">
              <a:off x="1156" y="2432"/>
              <a:ext cx="1" cy="7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1" name="AutoShape 17">
              <a:extLst>
                <a:ext uri="{FF2B5EF4-FFF2-40B4-BE49-F238E27FC236}">
                  <a16:creationId xmlns:a16="http://schemas.microsoft.com/office/drawing/2014/main" id="{4824BB47-787A-D041-A08A-C27C80562F11}"/>
                </a:ext>
              </a:extLst>
            </p:cNvPr>
            <p:cNvCxnSpPr>
              <a:cxnSpLocks noChangeShapeType="1"/>
              <a:stCxn id="13361" idx="7"/>
              <a:endCxn id="13362" idx="3"/>
            </p:cNvCxnSpPr>
            <p:nvPr/>
          </p:nvCxnSpPr>
          <p:spPr bwMode="auto">
            <a:xfrm flipV="1">
              <a:off x="1220" y="2858"/>
              <a:ext cx="326" cy="3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2" name="AutoShape 18">
              <a:extLst>
                <a:ext uri="{FF2B5EF4-FFF2-40B4-BE49-F238E27FC236}">
                  <a16:creationId xmlns:a16="http://schemas.microsoft.com/office/drawing/2014/main" id="{AC73A634-34E6-9F4B-A181-A2E80A63CD17}"/>
                </a:ext>
              </a:extLst>
            </p:cNvPr>
            <p:cNvCxnSpPr>
              <a:cxnSpLocks noChangeShapeType="1"/>
              <a:stCxn id="13362" idx="7"/>
              <a:endCxn id="13363" idx="3"/>
            </p:cNvCxnSpPr>
            <p:nvPr/>
          </p:nvCxnSpPr>
          <p:spPr bwMode="auto">
            <a:xfrm flipV="1">
              <a:off x="1673" y="2405"/>
              <a:ext cx="327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3" name="AutoShape 19">
              <a:extLst>
                <a:ext uri="{FF2B5EF4-FFF2-40B4-BE49-F238E27FC236}">
                  <a16:creationId xmlns:a16="http://schemas.microsoft.com/office/drawing/2014/main" id="{088ED038-C579-6145-AA19-6C122C8E4970}"/>
                </a:ext>
              </a:extLst>
            </p:cNvPr>
            <p:cNvCxnSpPr>
              <a:cxnSpLocks noChangeShapeType="1"/>
              <a:stCxn id="13362" idx="5"/>
              <a:endCxn id="13364" idx="1"/>
            </p:cNvCxnSpPr>
            <p:nvPr/>
          </p:nvCxnSpPr>
          <p:spPr bwMode="auto">
            <a:xfrm>
              <a:off x="1673" y="2858"/>
              <a:ext cx="327" cy="3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4" name="AutoShape 20">
              <a:extLst>
                <a:ext uri="{FF2B5EF4-FFF2-40B4-BE49-F238E27FC236}">
                  <a16:creationId xmlns:a16="http://schemas.microsoft.com/office/drawing/2014/main" id="{97BC9666-2A5C-EF46-BE0A-5C0192E1CE34}"/>
                </a:ext>
              </a:extLst>
            </p:cNvPr>
            <p:cNvCxnSpPr>
              <a:cxnSpLocks noChangeShapeType="1"/>
              <a:stCxn id="13363" idx="6"/>
              <a:endCxn id="13366" idx="2"/>
            </p:cNvCxnSpPr>
            <p:nvPr/>
          </p:nvCxnSpPr>
          <p:spPr bwMode="auto">
            <a:xfrm>
              <a:off x="2154" y="2342"/>
              <a:ext cx="72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5" name="AutoShape 21">
              <a:extLst>
                <a:ext uri="{FF2B5EF4-FFF2-40B4-BE49-F238E27FC236}">
                  <a16:creationId xmlns:a16="http://schemas.microsoft.com/office/drawing/2014/main" id="{8700A82B-E9EB-7D40-98B1-33AFEE64E208}"/>
                </a:ext>
              </a:extLst>
            </p:cNvPr>
            <p:cNvCxnSpPr>
              <a:cxnSpLocks noChangeShapeType="1"/>
              <a:stCxn id="13364" idx="6"/>
              <a:endCxn id="13367" idx="2"/>
            </p:cNvCxnSpPr>
            <p:nvPr/>
          </p:nvCxnSpPr>
          <p:spPr bwMode="auto">
            <a:xfrm>
              <a:off x="2154" y="3249"/>
              <a:ext cx="72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6" name="AutoShape 22">
              <a:extLst>
                <a:ext uri="{FF2B5EF4-FFF2-40B4-BE49-F238E27FC236}">
                  <a16:creationId xmlns:a16="http://schemas.microsoft.com/office/drawing/2014/main" id="{83A5B013-E578-1746-A88A-E6C521D09B87}"/>
                </a:ext>
              </a:extLst>
            </p:cNvPr>
            <p:cNvCxnSpPr>
              <a:cxnSpLocks noChangeShapeType="1"/>
              <a:stCxn id="13367" idx="0"/>
              <a:endCxn id="13366" idx="4"/>
            </p:cNvCxnSpPr>
            <p:nvPr/>
          </p:nvCxnSpPr>
          <p:spPr bwMode="auto">
            <a:xfrm flipV="1">
              <a:off x="2971" y="2432"/>
              <a:ext cx="0" cy="7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7" name="AutoShape 23">
              <a:extLst>
                <a:ext uri="{FF2B5EF4-FFF2-40B4-BE49-F238E27FC236}">
                  <a16:creationId xmlns:a16="http://schemas.microsoft.com/office/drawing/2014/main" id="{D29C816F-FCBF-BA4B-B128-E4E46D5B8495}"/>
                </a:ext>
              </a:extLst>
            </p:cNvPr>
            <p:cNvCxnSpPr>
              <a:cxnSpLocks noChangeShapeType="1"/>
              <a:stCxn id="13363" idx="5"/>
              <a:endCxn id="13367" idx="1"/>
            </p:cNvCxnSpPr>
            <p:nvPr/>
          </p:nvCxnSpPr>
          <p:spPr bwMode="auto">
            <a:xfrm>
              <a:off x="2127" y="2405"/>
              <a:ext cx="780" cy="7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8" name="AutoShape 24">
              <a:extLst>
                <a:ext uri="{FF2B5EF4-FFF2-40B4-BE49-F238E27FC236}">
                  <a16:creationId xmlns:a16="http://schemas.microsoft.com/office/drawing/2014/main" id="{48B8F7DC-8D25-D44B-B717-909F6FE9EC96}"/>
                </a:ext>
              </a:extLst>
            </p:cNvPr>
            <p:cNvCxnSpPr>
              <a:cxnSpLocks noChangeShapeType="1"/>
              <a:stCxn id="13360" idx="6"/>
              <a:endCxn id="13363" idx="2"/>
            </p:cNvCxnSpPr>
            <p:nvPr/>
          </p:nvCxnSpPr>
          <p:spPr bwMode="auto">
            <a:xfrm>
              <a:off x="1246" y="2342"/>
              <a:ext cx="7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79" name="AutoShape 25">
              <a:extLst>
                <a:ext uri="{FF2B5EF4-FFF2-40B4-BE49-F238E27FC236}">
                  <a16:creationId xmlns:a16="http://schemas.microsoft.com/office/drawing/2014/main" id="{C5B6719F-92C5-254A-BFD0-74C9A9FF52BF}"/>
                </a:ext>
              </a:extLst>
            </p:cNvPr>
            <p:cNvCxnSpPr>
              <a:cxnSpLocks noChangeShapeType="1"/>
              <a:stCxn id="13366" idx="5"/>
              <a:endCxn id="13365" idx="1"/>
            </p:cNvCxnSpPr>
            <p:nvPr/>
          </p:nvCxnSpPr>
          <p:spPr bwMode="auto">
            <a:xfrm>
              <a:off x="3034" y="2405"/>
              <a:ext cx="327" cy="3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80" name="AutoShape 26">
              <a:extLst>
                <a:ext uri="{FF2B5EF4-FFF2-40B4-BE49-F238E27FC236}">
                  <a16:creationId xmlns:a16="http://schemas.microsoft.com/office/drawing/2014/main" id="{B789702A-C367-E44E-A2B8-CF5F896CB7CE}"/>
                </a:ext>
              </a:extLst>
            </p:cNvPr>
            <p:cNvCxnSpPr>
              <a:cxnSpLocks noChangeShapeType="1"/>
              <a:stCxn id="13367" idx="7"/>
              <a:endCxn id="13365" idx="3"/>
            </p:cNvCxnSpPr>
            <p:nvPr/>
          </p:nvCxnSpPr>
          <p:spPr bwMode="auto">
            <a:xfrm flipV="1">
              <a:off x="3034" y="2858"/>
              <a:ext cx="327" cy="3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81" name="AutoShape 27">
              <a:extLst>
                <a:ext uri="{FF2B5EF4-FFF2-40B4-BE49-F238E27FC236}">
                  <a16:creationId xmlns:a16="http://schemas.microsoft.com/office/drawing/2014/main" id="{18757132-2088-B246-B8A4-050C0EB4EB92}"/>
                </a:ext>
              </a:extLst>
            </p:cNvPr>
            <p:cNvCxnSpPr>
              <a:cxnSpLocks noChangeShapeType="1"/>
              <a:stCxn id="13361" idx="6"/>
              <a:endCxn id="13364" idx="2"/>
            </p:cNvCxnSpPr>
            <p:nvPr/>
          </p:nvCxnSpPr>
          <p:spPr bwMode="auto">
            <a:xfrm>
              <a:off x="1247" y="3249"/>
              <a:ext cx="72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317" name="Text Box 28">
            <a:extLst>
              <a:ext uri="{FF2B5EF4-FFF2-40B4-BE49-F238E27FC236}">
                <a16:creationId xmlns:a16="http://schemas.microsoft.com/office/drawing/2014/main" id="{6131854C-4A4A-D943-B168-F00CEC375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314007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3318" name="Text Box 29">
            <a:extLst>
              <a:ext uri="{FF2B5EF4-FFF2-40B4-BE49-F238E27FC236}">
                <a16:creationId xmlns:a16="http://schemas.microsoft.com/office/drawing/2014/main" id="{5B7A3DBB-37D5-7A41-B326-70B6DE2DD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137795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13319" name="Text Box 30">
            <a:extLst>
              <a:ext uri="{FF2B5EF4-FFF2-40B4-BE49-F238E27FC236}">
                <a16:creationId xmlns:a16="http://schemas.microsoft.com/office/drawing/2014/main" id="{F84F4A8A-9458-5746-8B63-AC5B5B67A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137795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13320" name="Text Box 31">
            <a:extLst>
              <a:ext uri="{FF2B5EF4-FFF2-40B4-BE49-F238E27FC236}">
                <a16:creationId xmlns:a16="http://schemas.microsoft.com/office/drawing/2014/main" id="{F77BDC5A-5048-4244-A745-77B453DE8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173831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13321" name="Text Box 32">
            <a:extLst>
              <a:ext uri="{FF2B5EF4-FFF2-40B4-BE49-F238E27FC236}">
                <a16:creationId xmlns:a16="http://schemas.microsoft.com/office/drawing/2014/main" id="{A290E670-5EAC-0C4B-A2B1-0F1AF730F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51" y="266700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13322" name="Text Box 33">
            <a:extLst>
              <a:ext uri="{FF2B5EF4-FFF2-40B4-BE49-F238E27FC236}">
                <a16:creationId xmlns:a16="http://schemas.microsoft.com/office/drawing/2014/main" id="{B1A2C47E-90D7-B046-B3CB-C634CF58A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9" y="223520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14</a:t>
            </a:r>
          </a:p>
        </p:txBody>
      </p:sp>
      <p:sp>
        <p:nvSpPr>
          <p:cNvPr id="13323" name="Text Box 34">
            <a:extLst>
              <a:ext uri="{FF2B5EF4-FFF2-40B4-BE49-F238E27FC236}">
                <a16:creationId xmlns:a16="http://schemas.microsoft.com/office/drawing/2014/main" id="{D0AFEDE8-4C92-324F-B8BA-C70C1CB02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138" y="224155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3324" name="Text Box 35">
            <a:extLst>
              <a:ext uri="{FF2B5EF4-FFF2-40B4-BE49-F238E27FC236}">
                <a16:creationId xmlns:a16="http://schemas.microsoft.com/office/drawing/2014/main" id="{03937E31-568F-E24E-B61B-7ED69C8A9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3" y="194786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3325" name="Text Box 36">
            <a:extLst>
              <a:ext uri="{FF2B5EF4-FFF2-40B4-BE49-F238E27FC236}">
                <a16:creationId xmlns:a16="http://schemas.microsoft.com/office/drawing/2014/main" id="{1A30E900-FE60-1B43-9945-CD2892A31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575" y="303371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3326" name="Text Box 37">
            <a:extLst>
              <a:ext uri="{FF2B5EF4-FFF2-40B4-BE49-F238E27FC236}">
                <a16:creationId xmlns:a16="http://schemas.microsoft.com/office/drawing/2014/main" id="{E413B30A-6002-124D-9F3B-41427AD88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9" y="1676400"/>
            <a:ext cx="263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3327" name="Text Box 38">
            <a:extLst>
              <a:ext uri="{FF2B5EF4-FFF2-40B4-BE49-F238E27FC236}">
                <a16:creationId xmlns:a16="http://schemas.microsoft.com/office/drawing/2014/main" id="{C765AB3D-6325-F74E-9F8A-C3F3229D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245745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13328" name="Text Box 39">
            <a:extLst>
              <a:ext uri="{FF2B5EF4-FFF2-40B4-BE49-F238E27FC236}">
                <a16:creationId xmlns:a16="http://schemas.microsoft.com/office/drawing/2014/main" id="{56AEA0FE-A72E-5C41-8A81-B7D872143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63" y="2241550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13329" name="Text Box 40">
            <a:extLst>
              <a:ext uri="{FF2B5EF4-FFF2-40B4-BE49-F238E27FC236}">
                <a16:creationId xmlns:a16="http://schemas.microsoft.com/office/drawing/2014/main" id="{578E7E5D-1E52-2B4D-A20E-0EF72B0FB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26670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1EE50F6E-B97A-FB4E-912E-3FFAC449A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525" y="4471989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42" name="Oval 42">
            <a:extLst>
              <a:ext uri="{FF2B5EF4-FFF2-40B4-BE49-F238E27FC236}">
                <a16:creationId xmlns:a16="http://schemas.microsoft.com/office/drawing/2014/main" id="{2A584CF3-ECD5-6C41-B887-8D1A6554D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4" y="37528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43" name="Oval 43">
            <a:extLst>
              <a:ext uri="{FF2B5EF4-FFF2-40B4-BE49-F238E27FC236}">
                <a16:creationId xmlns:a16="http://schemas.microsoft.com/office/drawing/2014/main" id="{5F11B945-D5BC-9142-AA50-7A7B67776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4" y="518160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44" name="Oval 44">
            <a:extLst>
              <a:ext uri="{FF2B5EF4-FFF2-40B4-BE49-F238E27FC236}">
                <a16:creationId xmlns:a16="http://schemas.microsoft.com/office/drawing/2014/main" id="{C4B760F8-F431-CB4C-8943-201E3DC48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0" y="4471989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45" name="Oval 45">
            <a:extLst>
              <a:ext uri="{FF2B5EF4-FFF2-40B4-BE49-F238E27FC236}">
                <a16:creationId xmlns:a16="http://schemas.microsoft.com/office/drawing/2014/main" id="{E3D45A22-A927-8E43-B8DD-27E4E65BE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3752850"/>
            <a:ext cx="287338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46" name="Oval 46">
            <a:extLst>
              <a:ext uri="{FF2B5EF4-FFF2-40B4-BE49-F238E27FC236}">
                <a16:creationId xmlns:a16="http://schemas.microsoft.com/office/drawing/2014/main" id="{9749755B-F95B-F746-B545-E4D7FC7B6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5181600"/>
            <a:ext cx="287338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47" name="Oval 47">
            <a:extLst>
              <a:ext uri="{FF2B5EF4-FFF2-40B4-BE49-F238E27FC236}">
                <a16:creationId xmlns:a16="http://schemas.microsoft.com/office/drawing/2014/main" id="{9A4E82D3-7DA5-F349-9528-256896257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4" y="4471989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8" name="Oval 48">
            <a:extLst>
              <a:ext uri="{FF2B5EF4-FFF2-40B4-BE49-F238E27FC236}">
                <a16:creationId xmlns:a16="http://schemas.microsoft.com/office/drawing/2014/main" id="{FAE30979-C084-B446-A697-2E35F34CF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9339" y="37528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49" name="Oval 49">
            <a:extLst>
              <a:ext uri="{FF2B5EF4-FFF2-40B4-BE49-F238E27FC236}">
                <a16:creationId xmlns:a16="http://schemas.microsoft.com/office/drawing/2014/main" id="{7CEA942B-889A-7C47-B2B5-B106E9D0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9339" y="5192714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50" name="Oval 64">
            <a:extLst>
              <a:ext uri="{FF2B5EF4-FFF2-40B4-BE49-F238E27FC236}">
                <a16:creationId xmlns:a16="http://schemas.microsoft.com/office/drawing/2014/main" id="{FD486FFB-F403-294B-AB37-DB17CB54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67640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51" name="AutoShape 65">
            <a:extLst>
              <a:ext uri="{FF2B5EF4-FFF2-40B4-BE49-F238E27FC236}">
                <a16:creationId xmlns:a16="http://schemas.microsoft.com/office/drawing/2014/main" id="{E971F4E2-2377-8849-99B3-DD788FB8B2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76951" y="534035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Oval 66">
            <a:extLst>
              <a:ext uri="{FF2B5EF4-FFF2-40B4-BE49-F238E27FC236}">
                <a16:creationId xmlns:a16="http://schemas.microsoft.com/office/drawing/2014/main" id="{91F13B6E-BB0C-B94E-9578-6AF67C5F9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194310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53" name="AutoShape 67">
            <a:extLst>
              <a:ext uri="{FF2B5EF4-FFF2-40B4-BE49-F238E27FC236}">
                <a16:creationId xmlns:a16="http://schemas.microsoft.com/office/drawing/2014/main" id="{74A1B89D-A9D8-CC44-B56E-41CB1FF40E7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753226" y="3978276"/>
            <a:ext cx="519113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Oval 68">
            <a:extLst>
              <a:ext uri="{FF2B5EF4-FFF2-40B4-BE49-F238E27FC236}">
                <a16:creationId xmlns:a16="http://schemas.microsoft.com/office/drawing/2014/main" id="{B93E936E-7A51-CD49-BFDA-589FCCA28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4" y="3033714"/>
            <a:ext cx="287337" cy="287337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55" name="AutoShape 69">
            <a:extLst>
              <a:ext uri="{FF2B5EF4-FFF2-40B4-BE49-F238E27FC236}">
                <a16:creationId xmlns:a16="http://schemas.microsoft.com/office/drawing/2014/main" id="{5D17795B-C113-B54B-A3C6-ED6E9EF029D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16814" y="533400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Oval 70">
            <a:extLst>
              <a:ext uri="{FF2B5EF4-FFF2-40B4-BE49-F238E27FC236}">
                <a16:creationId xmlns:a16="http://schemas.microsoft.com/office/drawing/2014/main" id="{C83EA2FB-1065-544F-8F0F-A2C7ECB1A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4" y="224155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57" name="AutoShape 71">
            <a:extLst>
              <a:ext uri="{FF2B5EF4-FFF2-40B4-BE49-F238E27FC236}">
                <a16:creationId xmlns:a16="http://schemas.microsoft.com/office/drawing/2014/main" id="{4836A254-C163-974C-B4CA-4C04152E13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473950" y="4019550"/>
            <a:ext cx="1238250" cy="123825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Oval 72">
            <a:extLst>
              <a:ext uri="{FF2B5EF4-FFF2-40B4-BE49-F238E27FC236}">
                <a16:creationId xmlns:a16="http://schemas.microsoft.com/office/drawing/2014/main" id="{C3894186-208C-274D-863D-B35447AF4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4" y="312420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59" name="AutoShape 73">
            <a:extLst>
              <a:ext uri="{FF2B5EF4-FFF2-40B4-BE49-F238E27FC236}">
                <a16:creationId xmlns:a16="http://schemas.microsoft.com/office/drawing/2014/main" id="{C6A85889-8AF9-9F4B-9E93-338A39A6185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34001" y="3978276"/>
            <a:ext cx="517525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Oval 74">
            <a:extLst>
              <a:ext uri="{FF2B5EF4-FFF2-40B4-BE49-F238E27FC236}">
                <a16:creationId xmlns:a16="http://schemas.microsoft.com/office/drawing/2014/main" id="{097C4F56-E0C6-A341-8518-622CDE6DC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6550" y="245745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1" name="Oval 75">
            <a:extLst>
              <a:ext uri="{FF2B5EF4-FFF2-40B4-BE49-F238E27FC236}">
                <a16:creationId xmlns:a16="http://schemas.microsoft.com/office/drawing/2014/main" id="{1082552F-4A6B-5C49-B1E1-CE08DBD18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137160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62" name="AutoShape 76">
            <a:extLst>
              <a:ext uri="{FF2B5EF4-FFF2-40B4-BE49-F238E27FC236}">
                <a16:creationId xmlns:a16="http://schemas.microsoft.com/office/drawing/2014/main" id="{54E9029E-CC14-9F48-911E-F119EC60A5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16814" y="388620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Oval 77">
            <a:extLst>
              <a:ext uri="{FF2B5EF4-FFF2-40B4-BE49-F238E27FC236}">
                <a16:creationId xmlns:a16="http://schemas.microsoft.com/office/drawing/2014/main" id="{60C3AD84-6588-5140-816C-0CF0C222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4" y="137795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64" name="AutoShape 78">
            <a:extLst>
              <a:ext uri="{FF2B5EF4-FFF2-40B4-BE49-F238E27FC236}">
                <a16:creationId xmlns:a16="http://schemas.microsoft.com/office/drawing/2014/main" id="{D2F4BEF1-30B1-AE49-8831-AED23B2D5E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75363" y="3886200"/>
            <a:ext cx="1154112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79">
            <a:extLst>
              <a:ext uri="{FF2B5EF4-FFF2-40B4-BE49-F238E27FC236}">
                <a16:creationId xmlns:a16="http://schemas.microsoft.com/office/drawing/2014/main" id="{B67B5641-59DD-0E42-82EA-3C274301C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63" y="2463800"/>
            <a:ext cx="4746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3600">
                <a:solidFill>
                  <a:srgbClr val="CC3300"/>
                </a:solidFill>
                <a:ea typeface="新細明體" panose="02020500000000000000" pitchFamily="18" charset="-120"/>
                <a:sym typeface="Wingdings" pitchFamily="2" charset="2"/>
              </a:rPr>
              <a:t></a:t>
            </a:r>
          </a:p>
        </p:txBody>
      </p:sp>
      <p:sp>
        <p:nvSpPr>
          <p:cNvPr id="66" name="Oval 80">
            <a:extLst>
              <a:ext uri="{FF2B5EF4-FFF2-40B4-BE49-F238E27FC236}">
                <a16:creationId xmlns:a16="http://schemas.microsoft.com/office/drawing/2014/main" id="{587894AB-B4F8-1740-A077-AF4BA36B1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389" y="267335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7" name="Oval 81">
            <a:extLst>
              <a:ext uri="{FF2B5EF4-FFF2-40B4-BE49-F238E27FC236}">
                <a16:creationId xmlns:a16="http://schemas.microsoft.com/office/drawing/2014/main" id="{4C038452-B12D-E14D-8A46-C0C12912C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0" y="1738314"/>
            <a:ext cx="287338" cy="287337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68" name="AutoShape 82">
            <a:extLst>
              <a:ext uri="{FF2B5EF4-FFF2-40B4-BE49-F238E27FC236}">
                <a16:creationId xmlns:a16="http://schemas.microsoft.com/office/drawing/2014/main" id="{9975DC23-8A0E-E845-BD23-1EE919AF66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13813" y="3978276"/>
            <a:ext cx="519112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58" name="Rectangle 83">
            <a:extLst>
              <a:ext uri="{FF2B5EF4-FFF2-40B4-BE49-F238E27FC236}">
                <a16:creationId xmlns:a16="http://schemas.microsoft.com/office/drawing/2014/main" id="{44AEAFF0-A0CE-2748-94D9-D67C9FFE7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4" y="24574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67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5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500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5" presetClass="emph" presetSubtype="0" repeatCount="5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5" presetClass="emph" presetSubtype="0" repeatCount="500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5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35" presetClass="emph" presetSubtype="0" repeatCount="500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5" presetClass="emph" presetSubtype="0" repeatCount="5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35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35" presetClass="emph" presetSubtype="0" repeatCount="500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35" presetClass="emph" presetSubtype="0" repeatCount="5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35" presetClass="emph" presetSubtype="0" repeatCount="5000" fill="hold" grpId="2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35" presetClass="emph" presetSubtype="0" repeatCount="5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35" presetClass="emph" presetSubtype="0" repeatCount="500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5" presetClass="emph" presetSubtype="0" repeatCount="500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35" presetClass="emph" presetSubtype="0" repeatCount="500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35" presetClass="emph" presetSubtype="0" repeatCount="5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35" presetClass="emph" presetSubtype="0" repeatCount="500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35" presetClass="emph" presetSubtype="0" repeatCount="5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5" grpId="2" animBg="1"/>
      <p:bldP spid="45" grpId="3" animBg="1"/>
      <p:bldP spid="46" grpId="0" animBg="1"/>
      <p:bldP spid="47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1" grpId="0" animBg="1"/>
      <p:bldP spid="63" grpId="0" animBg="1"/>
      <p:bldP spid="65" grpId="0"/>
      <p:bldP spid="66" grpId="0" animBg="1"/>
      <p:bldP spid="6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Line 4">
            <a:extLst>
              <a:ext uri="{FF2B5EF4-FFF2-40B4-BE49-F238E27FC236}">
                <a16:creationId xmlns:a16="http://schemas.microsoft.com/office/drawing/2014/main" id="{F3630AB7-EAF9-A348-9B69-CA090BF68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82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F5F038DC-F5BE-AB4B-9A62-1A1ED8332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362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 </a:t>
            </a:r>
            <a:r>
              <a:rPr lang="en-US" altLang="en-US" sz="1400"/>
              <a:t>1</a:t>
            </a:r>
            <a:r>
              <a:rPr lang="en-US" altLang="en-US"/>
              <a:t> </a:t>
            </a: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28163A70-4FFA-934B-9881-9222399A1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47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14341" name="Line 7">
            <a:extLst>
              <a:ext uri="{FF2B5EF4-FFF2-40B4-BE49-F238E27FC236}">
                <a16:creationId xmlns:a16="http://schemas.microsoft.com/office/drawing/2014/main" id="{66360BDE-3563-8E4F-874A-B95D378D3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676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42" name="Rectangle 8">
            <a:extLst>
              <a:ext uri="{FF2B5EF4-FFF2-40B4-BE49-F238E27FC236}">
                <a16:creationId xmlns:a16="http://schemas.microsoft.com/office/drawing/2014/main" id="{3D7ADF58-A414-2246-9FE9-6BC468AA2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14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9</a:t>
            </a:r>
          </a:p>
        </p:txBody>
      </p:sp>
      <p:sp>
        <p:nvSpPr>
          <p:cNvPr id="14343" name="Rectangle 9">
            <a:extLst>
              <a:ext uri="{FF2B5EF4-FFF2-40B4-BE49-F238E27FC236}">
                <a16:creationId xmlns:a16="http://schemas.microsoft.com/office/drawing/2014/main" id="{ED7EC29F-4AC9-2746-A617-C88FEF61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295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14344" name="Line 10">
            <a:extLst>
              <a:ext uri="{FF2B5EF4-FFF2-40B4-BE49-F238E27FC236}">
                <a16:creationId xmlns:a16="http://schemas.microsoft.com/office/drawing/2014/main" id="{D2BABECC-5185-DC41-BD85-BE2A83BA2E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676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45" name="Rectangle 11">
            <a:extLst>
              <a:ext uri="{FF2B5EF4-FFF2-40B4-BE49-F238E27FC236}">
                <a16:creationId xmlns:a16="http://schemas.microsoft.com/office/drawing/2014/main" id="{44DDA599-10B1-8A4A-89B0-1DFA77711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514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7</a:t>
            </a:r>
          </a:p>
        </p:txBody>
      </p:sp>
      <p:sp>
        <p:nvSpPr>
          <p:cNvPr id="14346" name="Rectangle 12">
            <a:extLst>
              <a:ext uri="{FF2B5EF4-FFF2-40B4-BE49-F238E27FC236}">
                <a16:creationId xmlns:a16="http://schemas.microsoft.com/office/drawing/2014/main" id="{7257652E-7E75-EB47-A9CE-E1EB367A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295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6</a:t>
            </a:r>
          </a:p>
        </p:txBody>
      </p:sp>
      <p:sp>
        <p:nvSpPr>
          <p:cNvPr id="14347" name="Rectangle 13">
            <a:extLst>
              <a:ext uri="{FF2B5EF4-FFF2-40B4-BE49-F238E27FC236}">
                <a16:creationId xmlns:a16="http://schemas.microsoft.com/office/drawing/2014/main" id="{A0489CCF-0528-2840-A626-FC6F6F399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981200"/>
            <a:ext cx="76200" cy="76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</a:t>
            </a:r>
          </a:p>
        </p:txBody>
      </p:sp>
      <p:sp>
        <p:nvSpPr>
          <p:cNvPr id="14348" name="Rectangle 14">
            <a:extLst>
              <a:ext uri="{FF2B5EF4-FFF2-40B4-BE49-F238E27FC236}">
                <a16:creationId xmlns:a16="http://schemas.microsoft.com/office/drawing/2014/main" id="{82DEC349-B7D1-BC49-B218-9D0C59570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14349" name="Rectangle 15">
            <a:extLst>
              <a:ext uri="{FF2B5EF4-FFF2-40B4-BE49-F238E27FC236}">
                <a16:creationId xmlns:a16="http://schemas.microsoft.com/office/drawing/2014/main" id="{0794AC4E-106A-ED47-9CB3-62D5F5B33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2</a:t>
            </a:r>
          </a:p>
        </p:txBody>
      </p:sp>
      <p:sp>
        <p:nvSpPr>
          <p:cNvPr id="14350" name="Line 16">
            <a:extLst>
              <a:ext uri="{FF2B5EF4-FFF2-40B4-BE49-F238E27FC236}">
                <a16:creationId xmlns:a16="http://schemas.microsoft.com/office/drawing/2014/main" id="{821766FF-7C3D-6949-83F8-55A59D268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371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51" name="Rectangle 17">
            <a:extLst>
              <a:ext uri="{FF2B5EF4-FFF2-40B4-BE49-F238E27FC236}">
                <a16:creationId xmlns:a16="http://schemas.microsoft.com/office/drawing/2014/main" id="{FFAD66A3-F3C2-2347-88FA-EBD730ED5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590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7</a:t>
            </a:r>
          </a:p>
        </p:txBody>
      </p:sp>
      <p:sp>
        <p:nvSpPr>
          <p:cNvPr id="14352" name="Rectangle 18">
            <a:extLst>
              <a:ext uri="{FF2B5EF4-FFF2-40B4-BE49-F238E27FC236}">
                <a16:creationId xmlns:a16="http://schemas.microsoft.com/office/drawing/2014/main" id="{7B4D8836-EEF0-0343-88AD-AAEBB2CA5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219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14353" name="Rectangle 19">
            <a:extLst>
              <a:ext uri="{FF2B5EF4-FFF2-40B4-BE49-F238E27FC236}">
                <a16:creationId xmlns:a16="http://schemas.microsoft.com/office/drawing/2014/main" id="{6E1D3E77-0C82-924B-BFE6-81948236E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4354" name="Line 20">
            <a:extLst>
              <a:ext uri="{FF2B5EF4-FFF2-40B4-BE49-F238E27FC236}">
                <a16:creationId xmlns:a16="http://schemas.microsoft.com/office/drawing/2014/main" id="{AF02DF91-82FC-0840-BADC-17556B214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371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55" name="Rectangle 21">
            <a:extLst>
              <a:ext uri="{FF2B5EF4-FFF2-40B4-BE49-F238E27FC236}">
                <a16:creationId xmlns:a16="http://schemas.microsoft.com/office/drawing/2014/main" id="{165F2D49-BF5D-D646-A448-1AAFF78CE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590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3</a:t>
            </a:r>
          </a:p>
        </p:txBody>
      </p:sp>
      <p:sp>
        <p:nvSpPr>
          <p:cNvPr id="14356" name="Rectangle 22">
            <a:extLst>
              <a:ext uri="{FF2B5EF4-FFF2-40B4-BE49-F238E27FC236}">
                <a16:creationId xmlns:a16="http://schemas.microsoft.com/office/drawing/2014/main" id="{E78FE71A-5BB9-E040-9C12-675251943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219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6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E67C9D5D-8656-094E-B886-F563C3B89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4358" name="Line 24">
            <a:extLst>
              <a:ext uri="{FF2B5EF4-FFF2-40B4-BE49-F238E27FC236}">
                <a16:creationId xmlns:a16="http://schemas.microsoft.com/office/drawing/2014/main" id="{921136EA-D029-664A-A9DF-683E787F6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219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59" name="Rectangle 25">
            <a:extLst>
              <a:ext uri="{FF2B5EF4-FFF2-40B4-BE49-F238E27FC236}">
                <a16:creationId xmlns:a16="http://schemas.microsoft.com/office/drawing/2014/main" id="{744BED51-45C6-F041-A656-D7CBB796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971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3</a:t>
            </a:r>
          </a:p>
        </p:txBody>
      </p:sp>
      <p:sp>
        <p:nvSpPr>
          <p:cNvPr id="14360" name="Rectangle 26">
            <a:extLst>
              <a:ext uri="{FF2B5EF4-FFF2-40B4-BE49-F238E27FC236}">
                <a16:creationId xmlns:a16="http://schemas.microsoft.com/office/drawing/2014/main" id="{9EEA03FB-3AD1-6F45-B952-581B9D0C8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990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4361" name="Rectangle 27">
            <a:extLst>
              <a:ext uri="{FF2B5EF4-FFF2-40B4-BE49-F238E27FC236}">
                <a16:creationId xmlns:a16="http://schemas.microsoft.com/office/drawing/2014/main" id="{105AE433-60F9-5447-B6F9-B63D7764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7</a:t>
            </a:r>
          </a:p>
        </p:txBody>
      </p:sp>
      <p:sp>
        <p:nvSpPr>
          <p:cNvPr id="14362" name="Line 28">
            <a:extLst>
              <a:ext uri="{FF2B5EF4-FFF2-40B4-BE49-F238E27FC236}">
                <a16:creationId xmlns:a16="http://schemas.microsoft.com/office/drawing/2014/main" id="{EA05CBAE-B5EC-854D-BB05-4606D85F5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219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63" name="Rectangle 29">
            <a:extLst>
              <a:ext uri="{FF2B5EF4-FFF2-40B4-BE49-F238E27FC236}">
                <a16:creationId xmlns:a16="http://schemas.microsoft.com/office/drawing/2014/main" id="{51B33A7B-8B9B-C246-A908-D0083519A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971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8</a:t>
            </a:r>
          </a:p>
        </p:txBody>
      </p:sp>
      <p:sp>
        <p:nvSpPr>
          <p:cNvPr id="14364" name="Rectangle 30">
            <a:extLst>
              <a:ext uri="{FF2B5EF4-FFF2-40B4-BE49-F238E27FC236}">
                <a16:creationId xmlns:a16="http://schemas.microsoft.com/office/drawing/2014/main" id="{602B8354-11B2-3344-A4D5-1CF1445D6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990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9</a:t>
            </a:r>
          </a:p>
        </p:txBody>
      </p:sp>
      <p:sp>
        <p:nvSpPr>
          <p:cNvPr id="14365" name="Rectangle 31">
            <a:extLst>
              <a:ext uri="{FF2B5EF4-FFF2-40B4-BE49-F238E27FC236}">
                <a16:creationId xmlns:a16="http://schemas.microsoft.com/office/drawing/2014/main" id="{141948D9-A54C-AE43-A9D0-945E725EF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7</a:t>
            </a:r>
          </a:p>
        </p:txBody>
      </p:sp>
      <p:sp>
        <p:nvSpPr>
          <p:cNvPr id="14366" name="Line 32">
            <a:extLst>
              <a:ext uri="{FF2B5EF4-FFF2-40B4-BE49-F238E27FC236}">
                <a16:creationId xmlns:a16="http://schemas.microsoft.com/office/drawing/2014/main" id="{4BFADCB8-E74C-A143-8856-402FCE9337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0668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67" name="Rectangle 33">
            <a:extLst>
              <a:ext uri="{FF2B5EF4-FFF2-40B4-BE49-F238E27FC236}">
                <a16:creationId xmlns:a16="http://schemas.microsoft.com/office/drawing/2014/main" id="{1CA48AF2-9175-E04E-B278-8B0AD4FCC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971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2</a:t>
            </a:r>
          </a:p>
        </p:txBody>
      </p:sp>
      <p:sp>
        <p:nvSpPr>
          <p:cNvPr id="14368" name="Rectangle 34">
            <a:extLst>
              <a:ext uri="{FF2B5EF4-FFF2-40B4-BE49-F238E27FC236}">
                <a16:creationId xmlns:a16="http://schemas.microsoft.com/office/drawing/2014/main" id="{044BD7E0-917A-2D46-91CF-D23408274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762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3</a:t>
            </a:r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52EA94DA-CC10-E843-B465-D40881B5A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14370" name="Line 36">
            <a:extLst>
              <a:ext uri="{FF2B5EF4-FFF2-40B4-BE49-F238E27FC236}">
                <a16:creationId xmlns:a16="http://schemas.microsoft.com/office/drawing/2014/main" id="{5F41AF5B-57C9-854E-803A-21862BC68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10668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DA3E10A5-B22C-404C-8C7A-3C3382F3F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971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1</a:t>
            </a:r>
          </a:p>
        </p:txBody>
      </p:sp>
      <p:sp>
        <p:nvSpPr>
          <p:cNvPr id="14372" name="Rectangle 38">
            <a:extLst>
              <a:ext uri="{FF2B5EF4-FFF2-40B4-BE49-F238E27FC236}">
                <a16:creationId xmlns:a16="http://schemas.microsoft.com/office/drawing/2014/main" id="{E37134F8-06B2-4E46-A97D-CFAA01CB3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7620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14373" name="Rectangle 39">
            <a:extLst>
              <a:ext uri="{FF2B5EF4-FFF2-40B4-BE49-F238E27FC236}">
                <a16:creationId xmlns:a16="http://schemas.microsoft.com/office/drawing/2014/main" id="{51F3CCA0-1695-A04B-80B0-6B4E35F2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8</a:t>
            </a:r>
          </a:p>
        </p:txBody>
      </p:sp>
      <p:sp>
        <p:nvSpPr>
          <p:cNvPr id="14374" name="Line 40">
            <a:extLst>
              <a:ext uri="{FF2B5EF4-FFF2-40B4-BE49-F238E27FC236}">
                <a16:creationId xmlns:a16="http://schemas.microsoft.com/office/drawing/2014/main" id="{3FFD849C-7755-0A4E-9863-B5BD9BBF0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9144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75" name="Rectangle 41">
            <a:extLst>
              <a:ext uri="{FF2B5EF4-FFF2-40B4-BE49-F238E27FC236}">
                <a16:creationId xmlns:a16="http://schemas.microsoft.com/office/drawing/2014/main" id="{9B401EC0-0216-724B-B07B-15417D62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276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4</a:t>
            </a:r>
          </a:p>
        </p:txBody>
      </p:sp>
      <p:sp>
        <p:nvSpPr>
          <p:cNvPr id="14376" name="Rectangle 42">
            <a:extLst>
              <a:ext uri="{FF2B5EF4-FFF2-40B4-BE49-F238E27FC236}">
                <a16:creationId xmlns:a16="http://schemas.microsoft.com/office/drawing/2014/main" id="{B491F357-6427-9347-8453-7DE6492B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609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5</a:t>
            </a:r>
          </a:p>
        </p:txBody>
      </p:sp>
      <p:sp>
        <p:nvSpPr>
          <p:cNvPr id="14377" name="Rectangle 43">
            <a:extLst>
              <a:ext uri="{FF2B5EF4-FFF2-40B4-BE49-F238E27FC236}">
                <a16:creationId xmlns:a16="http://schemas.microsoft.com/office/drawing/2014/main" id="{03F3F74A-A420-6448-AB1F-8A82FDC43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9</a:t>
            </a:r>
          </a:p>
        </p:txBody>
      </p:sp>
      <p:sp>
        <p:nvSpPr>
          <p:cNvPr id="14378" name="Line 44">
            <a:extLst>
              <a:ext uri="{FF2B5EF4-FFF2-40B4-BE49-F238E27FC236}">
                <a16:creationId xmlns:a16="http://schemas.microsoft.com/office/drawing/2014/main" id="{45E60F77-1784-9949-8548-62F2DDF6B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7620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79" name="Rectangle 45">
            <a:extLst>
              <a:ext uri="{FF2B5EF4-FFF2-40B4-BE49-F238E27FC236}">
                <a16:creationId xmlns:a16="http://schemas.microsoft.com/office/drawing/2014/main" id="{F14C3CEE-8378-DA43-BA75-457271A4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352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6</a:t>
            </a:r>
          </a:p>
        </p:txBody>
      </p:sp>
      <p:sp>
        <p:nvSpPr>
          <p:cNvPr id="14380" name="Rectangle 46">
            <a:extLst>
              <a:ext uri="{FF2B5EF4-FFF2-40B4-BE49-F238E27FC236}">
                <a16:creationId xmlns:a16="http://schemas.microsoft.com/office/drawing/2014/main" id="{6E6373D4-61F8-0E42-AEE5-FB9814ED5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334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5</a:t>
            </a:r>
          </a:p>
        </p:txBody>
      </p:sp>
      <p:sp>
        <p:nvSpPr>
          <p:cNvPr id="14381" name="Rectangle 47">
            <a:extLst>
              <a:ext uri="{FF2B5EF4-FFF2-40B4-BE49-F238E27FC236}">
                <a16:creationId xmlns:a16="http://schemas.microsoft.com/office/drawing/2014/main" id="{1F3329C4-DB07-5C4E-9535-EDCEEA98A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0574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10</a:t>
            </a:r>
          </a:p>
        </p:txBody>
      </p:sp>
      <p:sp>
        <p:nvSpPr>
          <p:cNvPr id="14382" name="Line 48">
            <a:extLst>
              <a:ext uri="{FF2B5EF4-FFF2-40B4-BE49-F238E27FC236}">
                <a16:creationId xmlns:a16="http://schemas.microsoft.com/office/drawing/2014/main" id="{3AD19773-2051-8F42-820C-818E8068A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572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83" name="Rectangle 49">
            <a:extLst>
              <a:ext uri="{FF2B5EF4-FFF2-40B4-BE49-F238E27FC236}">
                <a16:creationId xmlns:a16="http://schemas.microsoft.com/office/drawing/2014/main" id="{A37F53A9-AEBE-2845-886E-3B971A2C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6576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6</a:t>
            </a:r>
          </a:p>
        </p:txBody>
      </p:sp>
      <p:sp>
        <p:nvSpPr>
          <p:cNvPr id="14384" name="Rectangle 50">
            <a:extLst>
              <a:ext uri="{FF2B5EF4-FFF2-40B4-BE49-F238E27FC236}">
                <a16:creationId xmlns:a16="http://schemas.microsoft.com/office/drawing/2014/main" id="{99E0F119-BD58-FE40-8F2B-3089746C0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048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4</a:t>
            </a:r>
          </a:p>
        </p:txBody>
      </p:sp>
      <p:sp>
        <p:nvSpPr>
          <p:cNvPr id="14385" name="Rectangle 51">
            <a:extLst>
              <a:ext uri="{FF2B5EF4-FFF2-40B4-BE49-F238E27FC236}">
                <a16:creationId xmlns:a16="http://schemas.microsoft.com/office/drawing/2014/main" id="{16035F50-273F-964F-B43A-B78D1BA4D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14</a:t>
            </a:r>
          </a:p>
        </p:txBody>
      </p:sp>
      <p:sp>
        <p:nvSpPr>
          <p:cNvPr id="14386" name="Line 52">
            <a:extLst>
              <a:ext uri="{FF2B5EF4-FFF2-40B4-BE49-F238E27FC236}">
                <a16:creationId xmlns:a16="http://schemas.microsoft.com/office/drawing/2014/main" id="{454EF6CF-C610-F149-B2C9-6ED30660A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1524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387" name="Rectangle 53">
            <a:extLst>
              <a:ext uri="{FF2B5EF4-FFF2-40B4-BE49-F238E27FC236}">
                <a16:creationId xmlns:a16="http://schemas.microsoft.com/office/drawing/2014/main" id="{A22FA299-7E1A-7745-8912-185A2D485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3886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 </a:t>
            </a:r>
            <a:r>
              <a:rPr lang="en-US" altLang="en-US" sz="1400"/>
              <a:t>7</a:t>
            </a:r>
          </a:p>
        </p:txBody>
      </p:sp>
      <p:sp>
        <p:nvSpPr>
          <p:cNvPr id="14388" name="Rectangle 54">
            <a:extLst>
              <a:ext uri="{FF2B5EF4-FFF2-40B4-BE49-F238E27FC236}">
                <a16:creationId xmlns:a16="http://schemas.microsoft.com/office/drawing/2014/main" id="{7A1A5CE2-E556-684F-9FB4-E0D1216E4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76200"/>
            <a:ext cx="228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9</a:t>
            </a:r>
          </a:p>
        </p:txBody>
      </p:sp>
      <p:sp>
        <p:nvSpPr>
          <p:cNvPr id="14389" name="Rectangle 55">
            <a:extLst>
              <a:ext uri="{FF2B5EF4-FFF2-40B4-BE49-F238E27FC236}">
                <a16:creationId xmlns:a16="http://schemas.microsoft.com/office/drawing/2014/main" id="{8274558B-15A9-D34C-8B92-C7721123B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1981200"/>
            <a:ext cx="152400" cy="152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16</a:t>
            </a:r>
          </a:p>
        </p:txBody>
      </p:sp>
      <p:sp>
        <p:nvSpPr>
          <p:cNvPr id="14390" name="Oval 56">
            <a:extLst>
              <a:ext uri="{FF2B5EF4-FFF2-40B4-BE49-F238E27FC236}">
                <a16:creationId xmlns:a16="http://schemas.microsoft.com/office/drawing/2014/main" id="{F2055C9E-27FD-7F41-842C-0D87640B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15766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4391" name="Oval 57">
            <a:extLst>
              <a:ext uri="{FF2B5EF4-FFF2-40B4-BE49-F238E27FC236}">
                <a16:creationId xmlns:a16="http://schemas.microsoft.com/office/drawing/2014/main" id="{F12DBF0A-C941-C34B-AED4-E1AE64D1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4" y="54165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14392" name="Oval 58">
            <a:extLst>
              <a:ext uri="{FF2B5EF4-FFF2-40B4-BE49-F238E27FC236}">
                <a16:creationId xmlns:a16="http://schemas.microsoft.com/office/drawing/2014/main" id="{B93F4285-126C-E542-AAE4-CBBE85F8B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4706939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14393" name="Oval 59">
            <a:extLst>
              <a:ext uri="{FF2B5EF4-FFF2-40B4-BE49-F238E27FC236}">
                <a16:creationId xmlns:a16="http://schemas.microsoft.com/office/drawing/2014/main" id="{15096FF0-5861-EA49-A7F6-F440ED77E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3987800"/>
            <a:ext cx="287338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4394" name="Oval 60">
            <a:extLst>
              <a:ext uri="{FF2B5EF4-FFF2-40B4-BE49-F238E27FC236}">
                <a16:creationId xmlns:a16="http://schemas.microsoft.com/office/drawing/2014/main" id="{00F20B9A-FB21-AE45-AFAF-03EBE87CB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5416550"/>
            <a:ext cx="287338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14395" name="Oval 61">
            <a:extLst>
              <a:ext uri="{FF2B5EF4-FFF2-40B4-BE49-F238E27FC236}">
                <a16:creationId xmlns:a16="http://schemas.microsoft.com/office/drawing/2014/main" id="{DA0E1DD0-95FC-7B43-8092-A755A03A6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08146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4396" name="Oval 62">
            <a:extLst>
              <a:ext uri="{FF2B5EF4-FFF2-40B4-BE49-F238E27FC236}">
                <a16:creationId xmlns:a16="http://schemas.microsoft.com/office/drawing/2014/main" id="{16DA4961-D953-1E4A-ABD5-D908E2397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9" y="5427664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cxnSp>
        <p:nvCxnSpPr>
          <p:cNvPr id="14397" name="AutoShape 63">
            <a:extLst>
              <a:ext uri="{FF2B5EF4-FFF2-40B4-BE49-F238E27FC236}">
                <a16:creationId xmlns:a16="http://schemas.microsoft.com/office/drawing/2014/main" id="{FC10EA9D-B3AF-7241-8FA8-1117792708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1951" y="557530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8" name="AutoShape 64">
            <a:extLst>
              <a:ext uri="{FF2B5EF4-FFF2-40B4-BE49-F238E27FC236}">
                <a16:creationId xmlns:a16="http://schemas.microsoft.com/office/drawing/2014/main" id="{5F4D3EA0-0DF7-884A-96C9-E7463EE8D7A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48226" y="4213226"/>
            <a:ext cx="519113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99" name="AutoShape 65">
            <a:extLst>
              <a:ext uri="{FF2B5EF4-FFF2-40B4-BE49-F238E27FC236}">
                <a16:creationId xmlns:a16="http://schemas.microsoft.com/office/drawing/2014/main" id="{63B1DFAC-784F-9C42-B2E1-C796DFCC89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11814" y="556895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0" name="AutoShape 66">
            <a:extLst>
              <a:ext uri="{FF2B5EF4-FFF2-40B4-BE49-F238E27FC236}">
                <a16:creationId xmlns:a16="http://schemas.microsoft.com/office/drawing/2014/main" id="{3BEED273-733C-734C-AC3D-F71877027A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8950" y="4254500"/>
            <a:ext cx="1238250" cy="123825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1" name="AutoShape 67">
            <a:extLst>
              <a:ext uri="{FF2B5EF4-FFF2-40B4-BE49-F238E27FC236}">
                <a16:creationId xmlns:a16="http://schemas.microsoft.com/office/drawing/2014/main" id="{F12C4CDD-D1AE-A74C-842D-D1B15A22BF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49539" y="4419601"/>
            <a:ext cx="517525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402" name="AutoShape 70">
            <a:extLst>
              <a:ext uri="{FF2B5EF4-FFF2-40B4-BE49-F238E27FC236}">
                <a16:creationId xmlns:a16="http://schemas.microsoft.com/office/drawing/2014/main" id="{79D12233-958A-E74F-A01F-0CAF1A1EF9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12076" y="4306889"/>
            <a:ext cx="519113" cy="517525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03" name="Oval 71">
            <a:extLst>
              <a:ext uri="{FF2B5EF4-FFF2-40B4-BE49-F238E27FC236}">
                <a16:creationId xmlns:a16="http://schemas.microsoft.com/office/drawing/2014/main" id="{2A912FA3-9490-354C-93AB-11BED19C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89426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4404" name="Oval 72">
            <a:extLst>
              <a:ext uri="{FF2B5EF4-FFF2-40B4-BE49-F238E27FC236}">
                <a16:creationId xmlns:a16="http://schemas.microsoft.com/office/drawing/2014/main" id="{783CBEBE-28CE-A346-8D92-F8BB45AA8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4989" y="4818064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4405" name="Freeform 82">
            <a:extLst>
              <a:ext uri="{FF2B5EF4-FFF2-40B4-BE49-F238E27FC236}">
                <a16:creationId xmlns:a16="http://schemas.microsoft.com/office/drawing/2014/main" id="{D012D61A-3D40-6349-9301-CAE5327152E3}"/>
              </a:ext>
            </a:extLst>
          </p:cNvPr>
          <p:cNvSpPr>
            <a:spLocks/>
          </p:cNvSpPr>
          <p:nvPr/>
        </p:nvSpPr>
        <p:spPr bwMode="auto">
          <a:xfrm>
            <a:off x="2057400" y="3733800"/>
            <a:ext cx="1943100" cy="1752600"/>
          </a:xfrm>
          <a:custGeom>
            <a:avLst/>
            <a:gdLst>
              <a:gd name="T0" fmla="*/ 0 w 1224"/>
              <a:gd name="T1" fmla="*/ 2147483647 h 1104"/>
              <a:gd name="T2" fmla="*/ 2147483647 w 1224"/>
              <a:gd name="T3" fmla="*/ 0 h 1104"/>
              <a:gd name="T4" fmla="*/ 2147483647 w 1224"/>
              <a:gd name="T5" fmla="*/ 2147483647 h 1104"/>
              <a:gd name="T6" fmla="*/ 2147483647 w 1224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1224"/>
              <a:gd name="T13" fmla="*/ 0 h 1104"/>
              <a:gd name="T14" fmla="*/ 1224 w 1224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24" h="1104">
                <a:moveTo>
                  <a:pt x="0" y="624"/>
                </a:moveTo>
                <a:cubicBezTo>
                  <a:pt x="364" y="312"/>
                  <a:pt x="728" y="0"/>
                  <a:pt x="912" y="0"/>
                </a:cubicBezTo>
                <a:cubicBezTo>
                  <a:pt x="1096" y="0"/>
                  <a:pt x="1224" y="440"/>
                  <a:pt x="1104" y="624"/>
                </a:cubicBezTo>
                <a:cubicBezTo>
                  <a:pt x="984" y="808"/>
                  <a:pt x="344" y="1024"/>
                  <a:pt x="192" y="1104"/>
                </a:cubicBezTo>
              </a:path>
            </a:pathLst>
          </a:cu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06" name="Freeform 83">
            <a:extLst>
              <a:ext uri="{FF2B5EF4-FFF2-40B4-BE49-F238E27FC236}">
                <a16:creationId xmlns:a16="http://schemas.microsoft.com/office/drawing/2014/main" id="{58A3F80D-5063-524E-BA49-D83F3E38A2B7}"/>
              </a:ext>
            </a:extLst>
          </p:cNvPr>
          <p:cNvSpPr>
            <a:spLocks/>
          </p:cNvSpPr>
          <p:nvPr/>
        </p:nvSpPr>
        <p:spPr bwMode="auto">
          <a:xfrm>
            <a:off x="1930400" y="4724400"/>
            <a:ext cx="431800" cy="762000"/>
          </a:xfrm>
          <a:custGeom>
            <a:avLst/>
            <a:gdLst>
              <a:gd name="T0" fmla="*/ 2147483647 w 272"/>
              <a:gd name="T1" fmla="*/ 0 h 480"/>
              <a:gd name="T2" fmla="*/ 2147483647 w 272"/>
              <a:gd name="T3" fmla="*/ 2147483647 h 480"/>
              <a:gd name="T4" fmla="*/ 2147483647 w 272"/>
              <a:gd name="T5" fmla="*/ 2147483647 h 480"/>
              <a:gd name="T6" fmla="*/ 0 60000 65536"/>
              <a:gd name="T7" fmla="*/ 0 60000 65536"/>
              <a:gd name="T8" fmla="*/ 0 60000 65536"/>
              <a:gd name="T9" fmla="*/ 0 w 272"/>
              <a:gd name="T10" fmla="*/ 0 h 480"/>
              <a:gd name="T11" fmla="*/ 272 w 27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480">
                <a:moveTo>
                  <a:pt x="80" y="0"/>
                </a:moveTo>
                <a:cubicBezTo>
                  <a:pt x="40" y="104"/>
                  <a:pt x="0" y="208"/>
                  <a:pt x="32" y="288"/>
                </a:cubicBezTo>
                <a:cubicBezTo>
                  <a:pt x="64" y="368"/>
                  <a:pt x="168" y="424"/>
                  <a:pt x="272" y="480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07" name="Freeform 84">
            <a:extLst>
              <a:ext uri="{FF2B5EF4-FFF2-40B4-BE49-F238E27FC236}">
                <a16:creationId xmlns:a16="http://schemas.microsoft.com/office/drawing/2014/main" id="{42B147D6-1CE1-6242-BD79-11C028B1B3E6}"/>
              </a:ext>
            </a:extLst>
          </p:cNvPr>
          <p:cNvSpPr>
            <a:spLocks/>
          </p:cNvSpPr>
          <p:nvPr/>
        </p:nvSpPr>
        <p:spPr bwMode="auto">
          <a:xfrm>
            <a:off x="3352800" y="3530600"/>
            <a:ext cx="4216400" cy="2743200"/>
          </a:xfrm>
          <a:custGeom>
            <a:avLst/>
            <a:gdLst>
              <a:gd name="T0" fmla="*/ 0 w 2656"/>
              <a:gd name="T1" fmla="*/ 2147483647 h 1728"/>
              <a:gd name="T2" fmla="*/ 2147483647 w 2656"/>
              <a:gd name="T3" fmla="*/ 2147483647 h 1728"/>
              <a:gd name="T4" fmla="*/ 2147483647 w 2656"/>
              <a:gd name="T5" fmla="*/ 2147483647 h 1728"/>
              <a:gd name="T6" fmla="*/ 2147483647 w 2656"/>
              <a:gd name="T7" fmla="*/ 2147483647 h 1728"/>
              <a:gd name="T8" fmla="*/ 2147483647 w 2656"/>
              <a:gd name="T9" fmla="*/ 2147483647 h 1728"/>
              <a:gd name="T10" fmla="*/ 2147483647 w 2656"/>
              <a:gd name="T11" fmla="*/ 2147483647 h 17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56"/>
              <a:gd name="T19" fmla="*/ 0 h 1728"/>
              <a:gd name="T20" fmla="*/ 2656 w 2656"/>
              <a:gd name="T21" fmla="*/ 1728 h 17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56" h="1728">
                <a:moveTo>
                  <a:pt x="0" y="1520"/>
                </a:moveTo>
                <a:cubicBezTo>
                  <a:pt x="112" y="1260"/>
                  <a:pt x="224" y="1000"/>
                  <a:pt x="432" y="752"/>
                </a:cubicBezTo>
                <a:cubicBezTo>
                  <a:pt x="640" y="504"/>
                  <a:pt x="904" y="0"/>
                  <a:pt x="1248" y="32"/>
                </a:cubicBezTo>
                <a:cubicBezTo>
                  <a:pt x="1592" y="64"/>
                  <a:pt x="2336" y="680"/>
                  <a:pt x="2496" y="944"/>
                </a:cubicBezTo>
                <a:cubicBezTo>
                  <a:pt x="2656" y="1208"/>
                  <a:pt x="2576" y="1504"/>
                  <a:pt x="2208" y="1616"/>
                </a:cubicBezTo>
                <a:cubicBezTo>
                  <a:pt x="1840" y="1728"/>
                  <a:pt x="1064" y="1672"/>
                  <a:pt x="288" y="1616"/>
                </a:cubicBezTo>
              </a:path>
            </a:pathLst>
          </a:cu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08" name="Freeform 85">
            <a:extLst>
              <a:ext uri="{FF2B5EF4-FFF2-40B4-BE49-F238E27FC236}">
                <a16:creationId xmlns:a16="http://schemas.microsoft.com/office/drawing/2014/main" id="{DB35F06A-6252-B743-A7E1-55F27074529B}"/>
              </a:ext>
            </a:extLst>
          </p:cNvPr>
          <p:cNvSpPr>
            <a:spLocks/>
          </p:cNvSpPr>
          <p:nvPr/>
        </p:nvSpPr>
        <p:spPr bwMode="auto">
          <a:xfrm>
            <a:off x="3352800" y="5943600"/>
            <a:ext cx="457200" cy="152400"/>
          </a:xfrm>
          <a:custGeom>
            <a:avLst/>
            <a:gdLst>
              <a:gd name="T0" fmla="*/ 0 w 288"/>
              <a:gd name="T1" fmla="*/ 0 h 96"/>
              <a:gd name="T2" fmla="*/ 2147483647 w 288"/>
              <a:gd name="T3" fmla="*/ 2147483647 h 96"/>
              <a:gd name="T4" fmla="*/ 0 60000 65536"/>
              <a:gd name="T5" fmla="*/ 0 60000 65536"/>
              <a:gd name="T6" fmla="*/ 0 w 288"/>
              <a:gd name="T7" fmla="*/ 0 h 96"/>
              <a:gd name="T8" fmla="*/ 288 w 288"/>
              <a:gd name="T9" fmla="*/ 96 h 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8" h="96">
                <a:moveTo>
                  <a:pt x="0" y="0"/>
                </a:moveTo>
                <a:cubicBezTo>
                  <a:pt x="120" y="40"/>
                  <a:pt x="240" y="80"/>
                  <a:pt x="288" y="96"/>
                </a:cubicBezTo>
              </a:path>
            </a:pathLst>
          </a:cu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09" name="Freeform 86">
            <a:extLst>
              <a:ext uri="{FF2B5EF4-FFF2-40B4-BE49-F238E27FC236}">
                <a16:creationId xmlns:a16="http://schemas.microsoft.com/office/drawing/2014/main" id="{BF9B5688-5251-F547-8FD7-5045AB4C10D0}"/>
              </a:ext>
            </a:extLst>
          </p:cNvPr>
          <p:cNvSpPr>
            <a:spLocks/>
          </p:cNvSpPr>
          <p:nvPr/>
        </p:nvSpPr>
        <p:spPr bwMode="auto">
          <a:xfrm>
            <a:off x="6972300" y="3721100"/>
            <a:ext cx="1790700" cy="1841500"/>
          </a:xfrm>
          <a:custGeom>
            <a:avLst/>
            <a:gdLst>
              <a:gd name="T0" fmla="*/ 2147483647 w 1128"/>
              <a:gd name="T1" fmla="*/ 2147483647 h 1160"/>
              <a:gd name="T2" fmla="*/ 2147483647 w 1128"/>
              <a:gd name="T3" fmla="*/ 2147483647 h 1160"/>
              <a:gd name="T4" fmla="*/ 2147483647 w 1128"/>
              <a:gd name="T5" fmla="*/ 2147483647 h 1160"/>
              <a:gd name="T6" fmla="*/ 2147483647 w 1128"/>
              <a:gd name="T7" fmla="*/ 2147483647 h 1160"/>
              <a:gd name="T8" fmla="*/ 0 60000 65536"/>
              <a:gd name="T9" fmla="*/ 0 60000 65536"/>
              <a:gd name="T10" fmla="*/ 0 60000 65536"/>
              <a:gd name="T11" fmla="*/ 0 60000 65536"/>
              <a:gd name="T12" fmla="*/ 0 w 1128"/>
              <a:gd name="T13" fmla="*/ 0 h 1160"/>
              <a:gd name="T14" fmla="*/ 1128 w 1128"/>
              <a:gd name="T15" fmla="*/ 1160 h 1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8" h="1160">
                <a:moveTo>
                  <a:pt x="744" y="1160"/>
                </a:moveTo>
                <a:cubicBezTo>
                  <a:pt x="372" y="732"/>
                  <a:pt x="0" y="304"/>
                  <a:pt x="24" y="152"/>
                </a:cubicBezTo>
                <a:cubicBezTo>
                  <a:pt x="48" y="0"/>
                  <a:pt x="704" y="104"/>
                  <a:pt x="888" y="248"/>
                </a:cubicBezTo>
                <a:cubicBezTo>
                  <a:pt x="1072" y="392"/>
                  <a:pt x="1100" y="704"/>
                  <a:pt x="1128" y="1016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0" name="Freeform 88">
            <a:extLst>
              <a:ext uri="{FF2B5EF4-FFF2-40B4-BE49-F238E27FC236}">
                <a16:creationId xmlns:a16="http://schemas.microsoft.com/office/drawing/2014/main" id="{B5D2E9F7-E3A7-F741-8123-639881F70786}"/>
              </a:ext>
            </a:extLst>
          </p:cNvPr>
          <p:cNvSpPr>
            <a:spLocks/>
          </p:cNvSpPr>
          <p:nvPr/>
        </p:nvSpPr>
        <p:spPr bwMode="auto">
          <a:xfrm>
            <a:off x="8153400" y="5334000"/>
            <a:ext cx="609600" cy="342900"/>
          </a:xfrm>
          <a:custGeom>
            <a:avLst/>
            <a:gdLst>
              <a:gd name="T0" fmla="*/ 0 w 384"/>
              <a:gd name="T1" fmla="*/ 2147483647 h 216"/>
              <a:gd name="T2" fmla="*/ 2147483647 w 384"/>
              <a:gd name="T3" fmla="*/ 2147483647 h 216"/>
              <a:gd name="T4" fmla="*/ 2147483647 w 384"/>
              <a:gd name="T5" fmla="*/ 0 h 216"/>
              <a:gd name="T6" fmla="*/ 0 60000 65536"/>
              <a:gd name="T7" fmla="*/ 0 60000 65536"/>
              <a:gd name="T8" fmla="*/ 0 60000 65536"/>
              <a:gd name="T9" fmla="*/ 0 w 384"/>
              <a:gd name="T10" fmla="*/ 0 h 216"/>
              <a:gd name="T11" fmla="*/ 384 w 384"/>
              <a:gd name="T12" fmla="*/ 216 h 2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216">
                <a:moveTo>
                  <a:pt x="0" y="144"/>
                </a:moveTo>
                <a:cubicBezTo>
                  <a:pt x="88" y="180"/>
                  <a:pt x="176" y="216"/>
                  <a:pt x="240" y="192"/>
                </a:cubicBezTo>
                <a:cubicBezTo>
                  <a:pt x="304" y="168"/>
                  <a:pt x="344" y="84"/>
                  <a:pt x="384" y="0"/>
                </a:cubicBezTo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1" name="Line 89">
            <a:extLst>
              <a:ext uri="{FF2B5EF4-FFF2-40B4-BE49-F238E27FC236}">
                <a16:creationId xmlns:a16="http://schemas.microsoft.com/office/drawing/2014/main" id="{D9CD60B9-A62F-BD4E-A970-03EEEBED52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953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2" name="Line 90">
            <a:extLst>
              <a:ext uri="{FF2B5EF4-FFF2-40B4-BE49-F238E27FC236}">
                <a16:creationId xmlns:a16="http://schemas.microsoft.com/office/drawing/2014/main" id="{3F6091FC-F099-F84A-97BD-4961F55F69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4114800"/>
            <a:ext cx="1905000" cy="152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3" name="Rectangle 91">
            <a:extLst>
              <a:ext uri="{FF2B5EF4-FFF2-40B4-BE49-F238E27FC236}">
                <a16:creationId xmlns:a16="http://schemas.microsoft.com/office/drawing/2014/main" id="{7D8AE5F4-BE15-5845-9E7C-B36B0CBC0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048000"/>
            <a:ext cx="2971800" cy="5334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Does not form cycle</a:t>
            </a:r>
          </a:p>
        </p:txBody>
      </p:sp>
      <p:sp>
        <p:nvSpPr>
          <p:cNvPr id="14414" name="Line 92">
            <a:extLst>
              <a:ext uri="{FF2B5EF4-FFF2-40B4-BE49-F238E27FC236}">
                <a16:creationId xmlns:a16="http://schemas.microsoft.com/office/drawing/2014/main" id="{D2BFB1B5-D980-7442-9ECC-55F6A68F1E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8600" y="35052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5" name="Rectangle 93">
            <a:extLst>
              <a:ext uri="{FF2B5EF4-FFF2-40B4-BE49-F238E27FC236}">
                <a16:creationId xmlns:a16="http://schemas.microsoft.com/office/drawing/2014/main" id="{527C6ACE-DB82-A84C-8F0C-114313152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6096000"/>
            <a:ext cx="1905000" cy="3810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Forms cycle</a:t>
            </a:r>
          </a:p>
        </p:txBody>
      </p:sp>
      <p:sp>
        <p:nvSpPr>
          <p:cNvPr id="14416" name="Line 94">
            <a:extLst>
              <a:ext uri="{FF2B5EF4-FFF2-40B4-BE49-F238E27FC236}">
                <a16:creationId xmlns:a16="http://schemas.microsoft.com/office/drawing/2014/main" id="{C3F87165-5D0E-D34F-B336-B3240D667F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5257800"/>
            <a:ext cx="1219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4417" name="Line 95">
            <a:extLst>
              <a:ext uri="{FF2B5EF4-FFF2-40B4-BE49-F238E27FC236}">
                <a16:creationId xmlns:a16="http://schemas.microsoft.com/office/drawing/2014/main" id="{8053713C-3E58-EF4B-B888-3559B584B1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54864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3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DD7E236-58BA-2B43-B0C9-EAACD69CF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>
                <a:solidFill>
                  <a:srgbClr val="C00000"/>
                </a:solidFill>
              </a:rPr>
              <a:t>Early form of minimum cost spanning tree alg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94EA04-1D21-E842-A870-50BDD19FE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t=0;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while((t has less than n-1 edges) and (E!=0)) do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choose an edge (</a:t>
            </a:r>
            <a:r>
              <a:rPr lang="en-US" sz="2800" kern="0" dirty="0" err="1"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) from E of lowest cost;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delete (</a:t>
            </a:r>
            <a:r>
              <a:rPr lang="en-US" sz="2800" kern="0" dirty="0" err="1"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) from E;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if(</a:t>
            </a:r>
            <a:r>
              <a:rPr lang="en-US" sz="2800" kern="0" dirty="0" err="1"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) does not create a cycle in t then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add(</a:t>
            </a:r>
            <a:r>
              <a:rPr lang="en-US" sz="2800" kern="0" dirty="0" err="1"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) to t;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else discard (</a:t>
            </a:r>
            <a:r>
              <a:rPr lang="en-US" sz="2800" kern="0" dirty="0" err="1">
                <a:latin typeface="Times New Roman" pitchFamily="18" charset="0"/>
                <a:cs typeface="Times New Roman" pitchFamily="18" charset="0"/>
              </a:rPr>
              <a:t>v,w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893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4A7BD29-E458-4D45-B905-6EB423B1C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>
                <a:solidFill>
                  <a:srgbClr val="C00000"/>
                </a:solidFill>
              </a:rPr>
              <a:t>MST-Kruskal’s Algorithm</a:t>
            </a:r>
            <a:br>
              <a:rPr lang="en-US" altLang="en-US" sz="4000">
                <a:solidFill>
                  <a:srgbClr val="C00000"/>
                </a:solidFill>
              </a:rPr>
            </a:br>
            <a:endParaRPr lang="en-US" altLang="en-US" sz="4000">
              <a:solidFill>
                <a:srgbClr val="C0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1ADC82-6D92-F54F-95B2-8BC5F9C6E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19200"/>
            <a:ext cx="8229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US" sz="2400" kern="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kruskal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E,cost,n,t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// E is the set of edges in G.G has n 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vertices.cost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] is the cost of edge(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//t is the set of edges in the minimum –cost spanning 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tree.the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final cost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// is returned.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//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{ 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Construct a heap out of the edge costs using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Hepify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for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=1 to n do parent[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]=-1;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//each vertex is in a different set.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=0;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mincost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=0;   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i="1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47639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EDAF9B-93B6-1C44-B9FD-5182BB0A3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57200"/>
            <a:ext cx="84582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	while((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&lt;n-1) and (heap not empty)) do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{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  delete a minimum cost edge (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)   from the heap and 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reheapify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using         	</a:t>
            </a:r>
            <a:r>
              <a:rPr lang="en-US" sz="20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Adjust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		 j=Find(u);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		K=Find(v);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	</a:t>
            </a:r>
            <a:r>
              <a:rPr lang="en-US" sz="20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if(j!=k)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then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{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 	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=i+1;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	 t[I,1]=u;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	t[I,2]=v;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	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mincost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mincost+cos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 	</a:t>
            </a:r>
            <a:r>
              <a:rPr lang="en-US" sz="20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j,k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   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 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sz="2000" kern="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!=n-1) 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then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 	write(“no spanning tree”);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	return </a:t>
            </a:r>
            <a:r>
              <a:rPr lang="en-US" sz="2000" kern="0" dirty="0" err="1">
                <a:latin typeface="Times New Roman" pitchFamily="18" charset="0"/>
                <a:cs typeface="Times New Roman" pitchFamily="18" charset="0"/>
              </a:rPr>
              <a:t>mincost</a:t>
            </a: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sz="2000" kern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0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447C671-FD21-C443-BE95-01ED943C7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458200" cy="1143000"/>
          </a:xfrm>
        </p:spPr>
        <p:txBody>
          <a:bodyPr/>
          <a:lstStyle/>
          <a:p>
            <a:r>
              <a:rPr lang="en-US" altLang="en-US" sz="4000">
                <a:solidFill>
                  <a:srgbClr val="C00000"/>
                </a:solidFill>
              </a:rPr>
              <a:t>Time complexity of kruskal’s algorithm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2F45CD0-9C8F-7E4A-B592-D245BA97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With an efficient </a:t>
            </a:r>
            <a:r>
              <a:rPr lang="en-US" sz="28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Find-set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algorithms, the running time of kruskal’s algorithm will be dominated by the time needed for sorting  the edge costs of a given graph.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800" kern="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Hence, with an efficient sorting algorithm( </a:t>
            </a:r>
            <a:r>
              <a:rPr lang="en-US" sz="28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merge sort</a:t>
            </a: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), the complexity of kruskal’s algorithm is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sz="2800" kern="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i="1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800" kern="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ElogE</a:t>
            </a:r>
            <a:r>
              <a:rPr lang="en-US" sz="2800" kern="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8525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5CF02E-73C6-0642-8C26-19C7652CE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zh-TW" sz="5400">
                <a:solidFill>
                  <a:srgbClr val="C00000"/>
                </a:solidFill>
                <a:ea typeface="新細明體" panose="02020500000000000000" pitchFamily="18" charset="-120"/>
              </a:rPr>
              <a:t>MST-Prim’s Algorithm</a:t>
            </a:r>
          </a:p>
        </p:txBody>
      </p:sp>
      <p:sp>
        <p:nvSpPr>
          <p:cNvPr id="3" name="Rectangle 67">
            <a:extLst>
              <a:ext uri="{FF2B5EF4-FFF2-40B4-BE49-F238E27FC236}">
                <a16:creationId xmlns:a16="http://schemas.microsoft.com/office/drawing/2014/main" id="{61D635BE-D723-1B40-A6A0-817E66FB0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143000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/>
              <a:t>Start with minimum cost edge.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Tx/>
              <a:buChar char="•"/>
              <a:defRPr/>
            </a:pPr>
            <a:r>
              <a:rPr lang="en-US" sz="2800" kern="0" dirty="0"/>
              <a:t>Select next minimum cost edge </a:t>
            </a:r>
            <a:r>
              <a:rPr lang="en-US" sz="2800" kern="0" dirty="0">
                <a:solidFill>
                  <a:srgbClr val="FF0000"/>
                </a:solidFill>
              </a:rPr>
              <a:t>(</a:t>
            </a:r>
            <a:r>
              <a:rPr lang="en-US" sz="2800" kern="0" dirty="0" err="1">
                <a:solidFill>
                  <a:srgbClr val="FF0000"/>
                </a:solidFill>
              </a:rPr>
              <a:t>i</a:t>
            </a:r>
            <a:r>
              <a:rPr lang="en-US" sz="2800" kern="0" dirty="0">
                <a:solidFill>
                  <a:srgbClr val="FF0000"/>
                </a:solidFill>
              </a:rPr>
              <a:t> , j) </a:t>
            </a:r>
            <a:r>
              <a:rPr lang="en-US" sz="2800" kern="0" dirty="0"/>
              <a:t>such that </a:t>
            </a:r>
            <a:r>
              <a:rPr lang="en-US" sz="2800" i="1" kern="0" dirty="0" err="1"/>
              <a:t>i</a:t>
            </a:r>
            <a:r>
              <a:rPr lang="en-US" sz="2800" kern="0" dirty="0"/>
              <a:t> is a vertex already included in the tree ,</a:t>
            </a:r>
            <a:r>
              <a:rPr lang="en-US" sz="2800" kern="0" dirty="0">
                <a:solidFill>
                  <a:srgbClr val="FF0000"/>
                </a:solidFill>
              </a:rPr>
              <a:t> </a:t>
            </a:r>
            <a:r>
              <a:rPr lang="en-US" sz="2800" i="1" kern="0" dirty="0">
                <a:solidFill>
                  <a:srgbClr val="FF0000"/>
                </a:solidFill>
              </a:rPr>
              <a:t>j</a:t>
            </a:r>
            <a:r>
              <a:rPr lang="en-US" sz="2800" kern="0" dirty="0">
                <a:solidFill>
                  <a:srgbClr val="FF0000"/>
                </a:solidFill>
              </a:rPr>
              <a:t> </a:t>
            </a:r>
            <a:r>
              <a:rPr lang="en-US" sz="2800" kern="0" dirty="0"/>
              <a:t>is a vertex not yet included.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Tx/>
              <a:buChar char="•"/>
              <a:defRPr/>
            </a:pPr>
            <a:r>
              <a:rPr lang="en-US" sz="2800" kern="0" dirty="0"/>
              <a:t>Continue this process until the tree has </a:t>
            </a:r>
            <a:r>
              <a:rPr lang="en-US" sz="2800" kern="0" dirty="0">
                <a:solidFill>
                  <a:srgbClr val="FF0000"/>
                </a:solidFill>
              </a:rPr>
              <a:t>n - 1 </a:t>
            </a:r>
            <a:r>
              <a:rPr lang="en-US" sz="2800" kern="0" dirty="0"/>
              <a:t>edges.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 dirty="0"/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 dirty="0"/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81825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A1A11E3-22FA-8E45-8132-E61A86CFB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7772400" cy="1143000"/>
          </a:xfrm>
        </p:spPr>
        <p:txBody>
          <a:bodyPr/>
          <a:lstStyle/>
          <a:p>
            <a:pPr algn="l"/>
            <a:r>
              <a:rPr lang="en-US" altLang="zh-TW">
                <a:solidFill>
                  <a:schemeClr val="hlink"/>
                </a:solidFill>
                <a:ea typeface="新細明體" panose="02020500000000000000" pitchFamily="18" charset="-120"/>
              </a:rPr>
              <a:t>Prim’s Algorithm</a:t>
            </a:r>
          </a:p>
        </p:txBody>
      </p:sp>
      <p:sp>
        <p:nvSpPr>
          <p:cNvPr id="4099" name="Oval 3">
            <a:extLst>
              <a:ext uri="{FF2B5EF4-FFF2-40B4-BE49-F238E27FC236}">
                <a16:creationId xmlns:a16="http://schemas.microsoft.com/office/drawing/2014/main" id="{80F9D075-70BE-7A47-91CA-BFD1E3BD0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09789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4100" name="Oval 4">
            <a:extLst>
              <a:ext uri="{FF2B5EF4-FFF2-40B4-BE49-F238E27FC236}">
                <a16:creationId xmlns:a16="http://schemas.microsoft.com/office/drawing/2014/main" id="{7D13793B-3AE7-BE40-B8E4-AA514AC4B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9" y="13906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4101" name="Oval 5">
            <a:extLst>
              <a:ext uri="{FF2B5EF4-FFF2-40B4-BE49-F238E27FC236}">
                <a16:creationId xmlns:a16="http://schemas.microsoft.com/office/drawing/2014/main" id="{5511E523-2776-4445-A531-EA4E00ABA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283051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4102" name="Oval 6">
            <a:extLst>
              <a:ext uri="{FF2B5EF4-FFF2-40B4-BE49-F238E27FC236}">
                <a16:creationId xmlns:a16="http://schemas.microsoft.com/office/drawing/2014/main" id="{A6B9912F-8255-5047-9821-08D6B8DFE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4" y="2109789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i</a:t>
            </a:r>
          </a:p>
        </p:txBody>
      </p:sp>
      <p:sp>
        <p:nvSpPr>
          <p:cNvPr id="4103" name="Oval 7">
            <a:extLst>
              <a:ext uri="{FF2B5EF4-FFF2-40B4-BE49-F238E27FC236}">
                <a16:creationId xmlns:a16="http://schemas.microsoft.com/office/drawing/2014/main" id="{5A7883E6-9504-384D-BF85-550F296F8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9" y="13906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4104" name="Oval 8">
            <a:extLst>
              <a:ext uri="{FF2B5EF4-FFF2-40B4-BE49-F238E27FC236}">
                <a16:creationId xmlns:a16="http://schemas.microsoft.com/office/drawing/2014/main" id="{C836FF30-EDB4-664E-A41E-199DE81F3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9" y="2830514"/>
            <a:ext cx="287337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4105" name="Oval 9">
            <a:extLst>
              <a:ext uri="{FF2B5EF4-FFF2-40B4-BE49-F238E27FC236}">
                <a16:creationId xmlns:a16="http://schemas.microsoft.com/office/drawing/2014/main" id="{547B19E2-66AB-5D46-BFFA-4162AB018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2109789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106" name="Oval 10">
            <a:extLst>
              <a:ext uri="{FF2B5EF4-FFF2-40B4-BE49-F238E27FC236}">
                <a16:creationId xmlns:a16="http://schemas.microsoft.com/office/drawing/2014/main" id="{F759B461-05C4-AF4E-88ED-925F8497A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390650"/>
            <a:ext cx="287338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4107" name="Oval 11">
            <a:extLst>
              <a:ext uri="{FF2B5EF4-FFF2-40B4-BE49-F238E27FC236}">
                <a16:creationId xmlns:a16="http://schemas.microsoft.com/office/drawing/2014/main" id="{EEDCB63B-2782-C048-B74A-20141B6AD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283051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cxnSp>
        <p:nvCxnSpPr>
          <p:cNvPr id="4108" name="AutoShape 12">
            <a:extLst>
              <a:ext uri="{FF2B5EF4-FFF2-40B4-BE49-F238E27FC236}">
                <a16:creationId xmlns:a16="http://schemas.microsoft.com/office/drawing/2014/main" id="{8A4E403E-D2E6-A443-8CAD-7B540D80BBD1}"/>
              </a:ext>
            </a:extLst>
          </p:cNvPr>
          <p:cNvCxnSpPr>
            <a:cxnSpLocks noChangeShapeType="1"/>
            <a:stCxn id="4099" idx="7"/>
            <a:endCxn id="4100" idx="3"/>
          </p:cNvCxnSpPr>
          <p:nvPr/>
        </p:nvCxnSpPr>
        <p:spPr bwMode="auto">
          <a:xfrm flipV="1">
            <a:off x="2073276" y="1635126"/>
            <a:ext cx="517525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9" name="AutoShape 13">
            <a:extLst>
              <a:ext uri="{FF2B5EF4-FFF2-40B4-BE49-F238E27FC236}">
                <a16:creationId xmlns:a16="http://schemas.microsoft.com/office/drawing/2014/main" id="{426052B1-ABA7-564D-9670-86C9120ED476}"/>
              </a:ext>
            </a:extLst>
          </p:cNvPr>
          <p:cNvCxnSpPr>
            <a:cxnSpLocks noChangeShapeType="1"/>
            <a:stCxn id="4099" idx="5"/>
            <a:endCxn id="4101" idx="1"/>
          </p:cNvCxnSpPr>
          <p:nvPr/>
        </p:nvCxnSpPr>
        <p:spPr bwMode="auto">
          <a:xfrm>
            <a:off x="2073276" y="2354263"/>
            <a:ext cx="51911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0" name="AutoShape 14">
            <a:extLst>
              <a:ext uri="{FF2B5EF4-FFF2-40B4-BE49-F238E27FC236}">
                <a16:creationId xmlns:a16="http://schemas.microsoft.com/office/drawing/2014/main" id="{EC1EC9FC-0554-5E44-B39B-6251FD280926}"/>
              </a:ext>
            </a:extLst>
          </p:cNvPr>
          <p:cNvCxnSpPr>
            <a:cxnSpLocks noChangeShapeType="1"/>
            <a:stCxn id="4101" idx="0"/>
            <a:endCxn id="4100" idx="4"/>
          </p:cNvCxnSpPr>
          <p:nvPr/>
        </p:nvCxnSpPr>
        <p:spPr bwMode="auto">
          <a:xfrm flipH="1" flipV="1">
            <a:off x="2692400" y="1677989"/>
            <a:ext cx="1588" cy="1152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1" name="AutoShape 15">
            <a:extLst>
              <a:ext uri="{FF2B5EF4-FFF2-40B4-BE49-F238E27FC236}">
                <a16:creationId xmlns:a16="http://schemas.microsoft.com/office/drawing/2014/main" id="{ADC8111D-3372-7045-A925-330B3F5865C2}"/>
              </a:ext>
            </a:extLst>
          </p:cNvPr>
          <p:cNvCxnSpPr>
            <a:cxnSpLocks noChangeShapeType="1"/>
            <a:stCxn id="4101" idx="7"/>
            <a:endCxn id="4102" idx="3"/>
          </p:cNvCxnSpPr>
          <p:nvPr/>
        </p:nvCxnSpPr>
        <p:spPr bwMode="auto">
          <a:xfrm flipV="1">
            <a:off x="2794001" y="2354263"/>
            <a:ext cx="517525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2" name="AutoShape 16">
            <a:extLst>
              <a:ext uri="{FF2B5EF4-FFF2-40B4-BE49-F238E27FC236}">
                <a16:creationId xmlns:a16="http://schemas.microsoft.com/office/drawing/2014/main" id="{7F42FF3F-6C99-914B-9F03-7970071804EE}"/>
              </a:ext>
            </a:extLst>
          </p:cNvPr>
          <p:cNvCxnSpPr>
            <a:cxnSpLocks noChangeShapeType="1"/>
            <a:stCxn id="4102" idx="7"/>
            <a:endCxn id="4103" idx="3"/>
          </p:cNvCxnSpPr>
          <p:nvPr/>
        </p:nvCxnSpPr>
        <p:spPr bwMode="auto">
          <a:xfrm flipV="1">
            <a:off x="3513138" y="1635126"/>
            <a:ext cx="519112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3" name="AutoShape 17">
            <a:extLst>
              <a:ext uri="{FF2B5EF4-FFF2-40B4-BE49-F238E27FC236}">
                <a16:creationId xmlns:a16="http://schemas.microsoft.com/office/drawing/2014/main" id="{22EB89FE-7A2B-094E-B21A-AC0C1DA79677}"/>
              </a:ext>
            </a:extLst>
          </p:cNvPr>
          <p:cNvCxnSpPr>
            <a:cxnSpLocks noChangeShapeType="1"/>
            <a:stCxn id="4102" idx="5"/>
            <a:endCxn id="4104" idx="1"/>
          </p:cNvCxnSpPr>
          <p:nvPr/>
        </p:nvCxnSpPr>
        <p:spPr bwMode="auto">
          <a:xfrm>
            <a:off x="3513138" y="2354263"/>
            <a:ext cx="519112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4" name="AutoShape 18">
            <a:extLst>
              <a:ext uri="{FF2B5EF4-FFF2-40B4-BE49-F238E27FC236}">
                <a16:creationId xmlns:a16="http://schemas.microsoft.com/office/drawing/2014/main" id="{BDBF0A5D-741E-3B47-9EF0-2BC599AE73B9}"/>
              </a:ext>
            </a:extLst>
          </p:cNvPr>
          <p:cNvCxnSpPr>
            <a:cxnSpLocks noChangeShapeType="1"/>
            <a:stCxn id="4103" idx="6"/>
            <a:endCxn id="4106" idx="2"/>
          </p:cNvCxnSpPr>
          <p:nvPr/>
        </p:nvCxnSpPr>
        <p:spPr bwMode="auto">
          <a:xfrm>
            <a:off x="4276726" y="1535113"/>
            <a:ext cx="1152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5" name="AutoShape 19">
            <a:extLst>
              <a:ext uri="{FF2B5EF4-FFF2-40B4-BE49-F238E27FC236}">
                <a16:creationId xmlns:a16="http://schemas.microsoft.com/office/drawing/2014/main" id="{FE6842CB-FDD9-774A-B19D-F04DAFF82869}"/>
              </a:ext>
            </a:extLst>
          </p:cNvPr>
          <p:cNvCxnSpPr>
            <a:cxnSpLocks noChangeShapeType="1"/>
            <a:stCxn id="4104" idx="6"/>
            <a:endCxn id="4107" idx="2"/>
          </p:cNvCxnSpPr>
          <p:nvPr/>
        </p:nvCxnSpPr>
        <p:spPr bwMode="auto">
          <a:xfrm>
            <a:off x="4276726" y="2974975"/>
            <a:ext cx="1152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6" name="AutoShape 20">
            <a:extLst>
              <a:ext uri="{FF2B5EF4-FFF2-40B4-BE49-F238E27FC236}">
                <a16:creationId xmlns:a16="http://schemas.microsoft.com/office/drawing/2014/main" id="{6771E3B9-E47A-B64F-9C5F-9D0F35243ED6}"/>
              </a:ext>
            </a:extLst>
          </p:cNvPr>
          <p:cNvCxnSpPr>
            <a:cxnSpLocks noChangeShapeType="1"/>
            <a:stCxn id="4107" idx="0"/>
            <a:endCxn id="4106" idx="4"/>
          </p:cNvCxnSpPr>
          <p:nvPr/>
        </p:nvCxnSpPr>
        <p:spPr bwMode="auto">
          <a:xfrm flipV="1">
            <a:off x="5573713" y="1677989"/>
            <a:ext cx="0" cy="1152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7" name="AutoShape 21">
            <a:extLst>
              <a:ext uri="{FF2B5EF4-FFF2-40B4-BE49-F238E27FC236}">
                <a16:creationId xmlns:a16="http://schemas.microsoft.com/office/drawing/2014/main" id="{71100AA2-3730-A143-9064-8F5E85985866}"/>
              </a:ext>
            </a:extLst>
          </p:cNvPr>
          <p:cNvCxnSpPr>
            <a:cxnSpLocks noChangeShapeType="1"/>
            <a:stCxn id="4103" idx="5"/>
            <a:endCxn id="4107" idx="1"/>
          </p:cNvCxnSpPr>
          <p:nvPr/>
        </p:nvCxnSpPr>
        <p:spPr bwMode="auto">
          <a:xfrm>
            <a:off x="4233863" y="1635125"/>
            <a:ext cx="1238250" cy="1238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8" name="AutoShape 22">
            <a:extLst>
              <a:ext uri="{FF2B5EF4-FFF2-40B4-BE49-F238E27FC236}">
                <a16:creationId xmlns:a16="http://schemas.microsoft.com/office/drawing/2014/main" id="{3DFCD4C8-14A3-EE40-AFE1-9F3158CABAFE}"/>
              </a:ext>
            </a:extLst>
          </p:cNvPr>
          <p:cNvCxnSpPr>
            <a:cxnSpLocks noChangeShapeType="1"/>
            <a:stCxn id="4100" idx="6"/>
            <a:endCxn id="4103" idx="2"/>
          </p:cNvCxnSpPr>
          <p:nvPr/>
        </p:nvCxnSpPr>
        <p:spPr bwMode="auto">
          <a:xfrm>
            <a:off x="2835276" y="1535113"/>
            <a:ext cx="115411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9" name="AutoShape 23">
            <a:extLst>
              <a:ext uri="{FF2B5EF4-FFF2-40B4-BE49-F238E27FC236}">
                <a16:creationId xmlns:a16="http://schemas.microsoft.com/office/drawing/2014/main" id="{B20D863D-1247-B243-A44D-B9D856CFF10B}"/>
              </a:ext>
            </a:extLst>
          </p:cNvPr>
          <p:cNvCxnSpPr>
            <a:cxnSpLocks noChangeShapeType="1"/>
            <a:stCxn id="4106" idx="5"/>
            <a:endCxn id="4105" idx="1"/>
          </p:cNvCxnSpPr>
          <p:nvPr/>
        </p:nvCxnSpPr>
        <p:spPr bwMode="auto">
          <a:xfrm>
            <a:off x="5673726" y="1635126"/>
            <a:ext cx="519113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0" name="AutoShape 24">
            <a:extLst>
              <a:ext uri="{FF2B5EF4-FFF2-40B4-BE49-F238E27FC236}">
                <a16:creationId xmlns:a16="http://schemas.microsoft.com/office/drawing/2014/main" id="{FFFE0EA7-D05D-094F-83E0-3874CAB73A64}"/>
              </a:ext>
            </a:extLst>
          </p:cNvPr>
          <p:cNvCxnSpPr>
            <a:cxnSpLocks noChangeShapeType="1"/>
            <a:stCxn id="4107" idx="7"/>
            <a:endCxn id="4105" idx="3"/>
          </p:cNvCxnSpPr>
          <p:nvPr/>
        </p:nvCxnSpPr>
        <p:spPr bwMode="auto">
          <a:xfrm flipV="1">
            <a:off x="5673726" y="2354263"/>
            <a:ext cx="519113" cy="519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1" name="AutoShape 25">
            <a:extLst>
              <a:ext uri="{FF2B5EF4-FFF2-40B4-BE49-F238E27FC236}">
                <a16:creationId xmlns:a16="http://schemas.microsoft.com/office/drawing/2014/main" id="{EE963752-57FA-724B-AE80-07246A0BB246}"/>
              </a:ext>
            </a:extLst>
          </p:cNvPr>
          <p:cNvCxnSpPr>
            <a:cxnSpLocks noChangeShapeType="1"/>
            <a:stCxn id="4101" idx="6"/>
            <a:endCxn id="4104" idx="2"/>
          </p:cNvCxnSpPr>
          <p:nvPr/>
        </p:nvCxnSpPr>
        <p:spPr bwMode="auto">
          <a:xfrm>
            <a:off x="2836864" y="2974975"/>
            <a:ext cx="11525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6">
            <a:extLst>
              <a:ext uri="{FF2B5EF4-FFF2-40B4-BE49-F238E27FC236}">
                <a16:creationId xmlns:a16="http://schemas.microsoft.com/office/drawing/2014/main" id="{168A7F26-1198-B146-80F7-2DF306A9B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4" y="1655763"/>
            <a:ext cx="263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FB9847FC-1F89-0B4D-BB76-9C8B3AD1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12954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5A44281F-B352-9B4D-A906-A0E1CD414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12954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41C8661C-3923-1F47-940F-25890BB61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165576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3A8C135B-D1D7-EF41-B976-A062C83E0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051" y="25844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10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B1892A53-97E5-C045-9B49-4517D2E69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39" y="215265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14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13B691FF-1F41-8343-A9D4-315B8B4F6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138" y="21590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EEA84F3A-7F63-1A41-8D84-D85A6A42C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3" y="186531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537CF44C-9D00-DA4F-ACF6-CBA25E401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575" y="295116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35" name="Text Box 35">
            <a:extLst>
              <a:ext uri="{FF2B5EF4-FFF2-40B4-BE49-F238E27FC236}">
                <a16:creationId xmlns:a16="http://schemas.microsoft.com/office/drawing/2014/main" id="{BD40BF67-C4B4-AA47-8C35-10D279B54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738" y="2951163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36" name="Text Box 36">
            <a:extLst>
              <a:ext uri="{FF2B5EF4-FFF2-40B4-BE49-F238E27FC236}">
                <a16:creationId xmlns:a16="http://schemas.microsoft.com/office/drawing/2014/main" id="{F26C7CB4-F26E-FA48-B2CB-040E4BD5A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23749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37" name="Text Box 37">
            <a:extLst>
              <a:ext uri="{FF2B5EF4-FFF2-40B4-BE49-F238E27FC236}">
                <a16:creationId xmlns:a16="http://schemas.microsoft.com/office/drawing/2014/main" id="{BC46B312-14FA-2044-B572-A2BEEB678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63" y="2159000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11</a:t>
            </a:r>
          </a:p>
        </p:txBody>
      </p:sp>
      <p:sp>
        <p:nvSpPr>
          <p:cNvPr id="38" name="Text Box 38">
            <a:extLst>
              <a:ext uri="{FF2B5EF4-FFF2-40B4-BE49-F238E27FC236}">
                <a16:creationId xmlns:a16="http://schemas.microsoft.com/office/drawing/2014/main" id="{0698B7E6-55E4-454E-A3A3-B55B93703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258445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39" name="Oval 62">
            <a:extLst>
              <a:ext uri="{FF2B5EF4-FFF2-40B4-BE49-F238E27FC236}">
                <a16:creationId xmlns:a16="http://schemas.microsoft.com/office/drawing/2014/main" id="{648D3DA0-18A5-874B-A24C-C9326ACF0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78339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40" name="Oval 63">
            <a:extLst>
              <a:ext uri="{FF2B5EF4-FFF2-40B4-BE49-F238E27FC236}">
                <a16:creationId xmlns:a16="http://schemas.microsoft.com/office/drawing/2014/main" id="{48C706F0-5752-6E4A-B3B4-4F034AC9B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0"/>
            <a:ext cx="304800" cy="3635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41" name="Oval 64">
            <a:extLst>
              <a:ext uri="{FF2B5EF4-FFF2-40B4-BE49-F238E27FC236}">
                <a16:creationId xmlns:a16="http://schemas.microsoft.com/office/drawing/2014/main" id="{5AF3F55A-106D-4C4B-90F5-C10AC92A3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4" y="1654175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Oval 65">
            <a:extLst>
              <a:ext uri="{FF2B5EF4-FFF2-40B4-BE49-F238E27FC236}">
                <a16:creationId xmlns:a16="http://schemas.microsoft.com/office/drawing/2014/main" id="{0F8AF09B-F35E-5B4F-BFB1-8073400CD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9" y="375761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43" name="Oval 66">
            <a:extLst>
              <a:ext uri="{FF2B5EF4-FFF2-40B4-BE49-F238E27FC236}">
                <a16:creationId xmlns:a16="http://schemas.microsoft.com/office/drawing/2014/main" id="{DD527DE5-1912-9D40-8A45-082B05307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13890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cxnSp>
        <p:nvCxnSpPr>
          <p:cNvPr id="44" name="AutoShape 67">
            <a:extLst>
              <a:ext uri="{FF2B5EF4-FFF2-40B4-BE49-F238E27FC236}">
                <a16:creationId xmlns:a16="http://schemas.microsoft.com/office/drawing/2014/main" id="{0C18D208-C67C-B641-92D8-2DE13CC7C14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06626" y="3962401"/>
            <a:ext cx="519113" cy="519113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Oval 68">
            <a:extLst>
              <a:ext uri="{FF2B5EF4-FFF2-40B4-BE49-F238E27FC236}">
                <a16:creationId xmlns:a16="http://schemas.microsoft.com/office/drawing/2014/main" id="{2D95DB37-5FB0-2244-8BEA-2027C6F92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4" y="129540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cxnSp>
        <p:nvCxnSpPr>
          <p:cNvPr id="46" name="AutoShape 69">
            <a:extLst>
              <a:ext uri="{FF2B5EF4-FFF2-40B4-BE49-F238E27FC236}">
                <a16:creationId xmlns:a16="http://schemas.microsoft.com/office/drawing/2014/main" id="{5AF2B7EF-F20C-F343-ABF2-12CDE73B3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21014" y="388620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Oval 70">
            <a:extLst>
              <a:ext uri="{FF2B5EF4-FFF2-40B4-BE49-F238E27FC236}">
                <a16:creationId xmlns:a16="http://schemas.microsoft.com/office/drawing/2014/main" id="{D3F7CAEB-80BB-374B-ABCA-DD031D008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964" y="375761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48" name="Oval 71">
            <a:extLst>
              <a:ext uri="{FF2B5EF4-FFF2-40B4-BE49-F238E27FC236}">
                <a16:creationId xmlns:a16="http://schemas.microsoft.com/office/drawing/2014/main" id="{2154B2E4-CFF8-7345-9EEA-EADE66B6E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9" y="13890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49" name="Oval 72">
            <a:extLst>
              <a:ext uri="{FF2B5EF4-FFF2-40B4-BE49-F238E27FC236}">
                <a16:creationId xmlns:a16="http://schemas.microsoft.com/office/drawing/2014/main" id="{D992694A-9725-7548-B7D6-389D1FBC0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1871664"/>
            <a:ext cx="287338" cy="287337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0" name="Oval 73">
            <a:extLst>
              <a:ext uri="{FF2B5EF4-FFF2-40B4-BE49-F238E27FC236}">
                <a16:creationId xmlns:a16="http://schemas.microsoft.com/office/drawing/2014/main" id="{A9A6D277-BC55-CC41-9006-7B15A92FD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4" y="2116139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51" name="Oval 74">
            <a:extLst>
              <a:ext uri="{FF2B5EF4-FFF2-40B4-BE49-F238E27FC236}">
                <a16:creationId xmlns:a16="http://schemas.microsoft.com/office/drawing/2014/main" id="{1337613C-6210-E348-A611-EF47963A3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44370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cxnSp>
        <p:nvCxnSpPr>
          <p:cNvPr id="52" name="AutoShape 75">
            <a:extLst>
              <a:ext uri="{FF2B5EF4-FFF2-40B4-BE49-F238E27FC236}">
                <a16:creationId xmlns:a16="http://schemas.microsoft.com/office/drawing/2014/main" id="{A8300C98-F963-E14A-85D2-30E6005C207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56014" y="3962400"/>
            <a:ext cx="517525" cy="52070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Rectangle 76">
            <a:extLst>
              <a:ext uri="{FF2B5EF4-FFF2-40B4-BE49-F238E27FC236}">
                <a16:creationId xmlns:a16="http://schemas.microsoft.com/office/drawing/2014/main" id="{94D3253B-58BB-F84A-AC03-9F3D76DF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4" y="2374900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TW" sz="1400">
                <a:latin typeface="Comic Sans MS" panose="030F0902030302020204" pitchFamily="66" charset="0"/>
                <a:ea typeface="新細明體" panose="02020500000000000000" pitchFamily="18" charset="-120"/>
              </a:rPr>
              <a:t>16</a:t>
            </a:r>
          </a:p>
        </p:txBody>
      </p:sp>
      <p:sp>
        <p:nvSpPr>
          <p:cNvPr id="54" name="Oval 77">
            <a:extLst>
              <a:ext uri="{FF2B5EF4-FFF2-40B4-BE49-F238E27FC236}">
                <a16:creationId xmlns:a16="http://schemas.microsoft.com/office/drawing/2014/main" id="{6C3C07AB-7394-C444-A355-5E27AFC1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075" y="215900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5" name="Oval 78">
            <a:extLst>
              <a:ext uri="{FF2B5EF4-FFF2-40B4-BE49-F238E27FC236}">
                <a16:creationId xmlns:a16="http://schemas.microsoft.com/office/drawing/2014/main" id="{9FE3BC12-AD87-DA4F-A751-2EC784958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2819400"/>
            <a:ext cx="287338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56" name="Oval 79">
            <a:extLst>
              <a:ext uri="{FF2B5EF4-FFF2-40B4-BE49-F238E27FC236}">
                <a16:creationId xmlns:a16="http://schemas.microsoft.com/office/drawing/2014/main" id="{B620152D-8E1B-D840-BE27-A610253A0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4" y="51990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cxnSp>
        <p:nvCxnSpPr>
          <p:cNvPr id="57" name="AutoShape 80">
            <a:extLst>
              <a:ext uri="{FF2B5EF4-FFF2-40B4-BE49-F238E27FC236}">
                <a16:creationId xmlns:a16="http://schemas.microsoft.com/office/drawing/2014/main" id="{28D013F7-31B3-684F-B658-0691E95872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89439" y="4017964"/>
            <a:ext cx="1239837" cy="1239837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Oval 81">
            <a:extLst>
              <a:ext uri="{FF2B5EF4-FFF2-40B4-BE49-F238E27FC236}">
                <a16:creationId xmlns:a16="http://schemas.microsoft.com/office/drawing/2014/main" id="{805E836A-366B-324F-9FC6-D2D4F6DF7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9" y="2951164"/>
            <a:ext cx="287337" cy="287337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" name="Oval 82">
            <a:extLst>
              <a:ext uri="{FF2B5EF4-FFF2-40B4-BE49-F238E27FC236}">
                <a16:creationId xmlns:a16="http://schemas.microsoft.com/office/drawing/2014/main" id="{460ED814-243B-7142-8780-AD06A068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9" y="2819400"/>
            <a:ext cx="287337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60" name="Oval 83">
            <a:extLst>
              <a:ext uri="{FF2B5EF4-FFF2-40B4-BE49-F238E27FC236}">
                <a16:creationId xmlns:a16="http://schemas.microsoft.com/office/drawing/2014/main" id="{79ADE282-CF00-B24D-A320-B0D16C6C9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964" y="51990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cxnSp>
        <p:nvCxnSpPr>
          <p:cNvPr id="61" name="AutoShape 84">
            <a:extLst>
              <a:ext uri="{FF2B5EF4-FFF2-40B4-BE49-F238E27FC236}">
                <a16:creationId xmlns:a16="http://schemas.microsoft.com/office/drawing/2014/main" id="{C5318854-B898-B64B-937D-B5C4166D7D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2301" y="5334000"/>
            <a:ext cx="1154113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Oval 85">
            <a:extLst>
              <a:ext uri="{FF2B5EF4-FFF2-40B4-BE49-F238E27FC236}">
                <a16:creationId xmlns:a16="http://schemas.microsoft.com/office/drawing/2014/main" id="{B3FF9A75-CBA7-4A46-98AF-77ED56B58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9" y="2940050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3" name="Oval 86">
            <a:extLst>
              <a:ext uri="{FF2B5EF4-FFF2-40B4-BE49-F238E27FC236}">
                <a16:creationId xmlns:a16="http://schemas.microsoft.com/office/drawing/2014/main" id="{2ADC22A0-DC9A-AF41-8A45-D2C6054C3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5" y="2819400"/>
            <a:ext cx="287338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64" name="Oval 87">
            <a:extLst>
              <a:ext uri="{FF2B5EF4-FFF2-40B4-BE49-F238E27FC236}">
                <a16:creationId xmlns:a16="http://schemas.microsoft.com/office/drawing/2014/main" id="{F28E1193-4E8D-4943-B94D-6FCFB3DA3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51990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cxnSp>
        <p:nvCxnSpPr>
          <p:cNvPr id="65" name="AutoShape 88">
            <a:extLst>
              <a:ext uri="{FF2B5EF4-FFF2-40B4-BE49-F238E27FC236}">
                <a16:creationId xmlns:a16="http://schemas.microsoft.com/office/drawing/2014/main" id="{DB30454D-0346-C34B-81F2-E8DFA59B6C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92439" y="5334000"/>
            <a:ext cx="1152525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Oval 89">
            <a:extLst>
              <a:ext uri="{FF2B5EF4-FFF2-40B4-BE49-F238E27FC236}">
                <a16:creationId xmlns:a16="http://schemas.microsoft.com/office/drawing/2014/main" id="{F6A7CC8F-9997-4242-82C4-266379B54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1295400"/>
            <a:ext cx="287338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7" name="Oval 90">
            <a:extLst>
              <a:ext uri="{FF2B5EF4-FFF2-40B4-BE49-F238E27FC236}">
                <a16:creationId xmlns:a16="http://schemas.microsoft.com/office/drawing/2014/main" id="{6FF1A414-1D89-B541-BA13-80969BB05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3890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68" name="Oval 91">
            <a:extLst>
              <a:ext uri="{FF2B5EF4-FFF2-40B4-BE49-F238E27FC236}">
                <a16:creationId xmlns:a16="http://schemas.microsoft.com/office/drawing/2014/main" id="{C4F9FD14-76E6-A146-9A6D-5F8520CD6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4" y="375761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cxnSp>
        <p:nvCxnSpPr>
          <p:cNvPr id="69" name="AutoShape 92">
            <a:extLst>
              <a:ext uri="{FF2B5EF4-FFF2-40B4-BE49-F238E27FC236}">
                <a16:creationId xmlns:a16="http://schemas.microsoft.com/office/drawing/2014/main" id="{1010A1AB-1B7C-764D-B526-2819DA7832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32301" y="3886200"/>
            <a:ext cx="1154113" cy="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Oval 93">
            <a:extLst>
              <a:ext uri="{FF2B5EF4-FFF2-40B4-BE49-F238E27FC236}">
                <a16:creationId xmlns:a16="http://schemas.microsoft.com/office/drawing/2014/main" id="{0B460D62-5A6C-A940-AB3A-11254AE53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864" y="1654175"/>
            <a:ext cx="287337" cy="287338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" name="Oval 94">
            <a:extLst>
              <a:ext uri="{FF2B5EF4-FFF2-40B4-BE49-F238E27FC236}">
                <a16:creationId xmlns:a16="http://schemas.microsoft.com/office/drawing/2014/main" id="{7CF49E15-4104-6F48-BBBF-463E85BAA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4479925"/>
            <a:ext cx="287338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cxnSp>
        <p:nvCxnSpPr>
          <p:cNvPr id="72" name="AutoShape 95">
            <a:extLst>
              <a:ext uri="{FF2B5EF4-FFF2-40B4-BE49-F238E27FC236}">
                <a16:creationId xmlns:a16="http://schemas.microsoft.com/office/drawing/2014/main" id="{32EAAF95-3B9D-1F4B-8644-527A1E461A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30889" y="3975100"/>
            <a:ext cx="517525" cy="520700"/>
          </a:xfrm>
          <a:prstGeom prst="straightConnector1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Oval 96">
            <a:extLst>
              <a:ext uri="{FF2B5EF4-FFF2-40B4-BE49-F238E27FC236}">
                <a16:creationId xmlns:a16="http://schemas.microsoft.com/office/drawing/2014/main" id="{65F27E37-08C9-2B43-91DE-2858D75BE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975" y="2133600"/>
            <a:ext cx="287338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4170" name="Rectangle 97">
            <a:extLst>
              <a:ext uri="{FF2B5EF4-FFF2-40B4-BE49-F238E27FC236}">
                <a16:creationId xmlns:a16="http://schemas.microsoft.com/office/drawing/2014/main" id="{5DC98863-1AED-E644-AA1F-F5861C4AF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10668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en-US" b="1"/>
              <a:t>t </a:t>
            </a:r>
            <a:r>
              <a:rPr lang="en-US" altLang="en-US" sz="2400"/>
              <a:t>[</a:t>
            </a:r>
            <a:r>
              <a:rPr lang="en-US" altLang="en-US"/>
              <a:t>1:n-1,1:2</a:t>
            </a:r>
            <a:r>
              <a:rPr lang="en-US" altLang="en-US" sz="2400"/>
              <a:t>]</a:t>
            </a:r>
          </a:p>
          <a:p>
            <a:pPr algn="ctr"/>
            <a:endParaRPr lang="en-US" altLang="en-US"/>
          </a:p>
        </p:txBody>
      </p:sp>
      <p:grpSp>
        <p:nvGrpSpPr>
          <p:cNvPr id="4171" name="Group 106">
            <a:extLst>
              <a:ext uri="{FF2B5EF4-FFF2-40B4-BE49-F238E27FC236}">
                <a16:creationId xmlns:a16="http://schemas.microsoft.com/office/drawing/2014/main" id="{6382EC4E-35AF-0E4F-971F-4872F6D3E126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1752600"/>
            <a:ext cx="1371600" cy="457200"/>
            <a:chOff x="4272" y="1056"/>
            <a:chExt cx="864" cy="288"/>
          </a:xfrm>
        </p:grpSpPr>
        <p:sp>
          <p:nvSpPr>
            <p:cNvPr id="4192" name="Rectangle 98">
              <a:extLst>
                <a:ext uri="{FF2B5EF4-FFF2-40B4-BE49-F238E27FC236}">
                  <a16:creationId xmlns:a16="http://schemas.microsoft.com/office/drawing/2014/main" id="{E84B415A-3848-384F-94DF-318D102B3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056"/>
              <a:ext cx="864" cy="28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 1         2</a:t>
              </a:r>
            </a:p>
          </p:txBody>
        </p:sp>
        <p:sp>
          <p:nvSpPr>
            <p:cNvPr id="4193" name="Line 99">
              <a:extLst>
                <a:ext uri="{FF2B5EF4-FFF2-40B4-BE49-F238E27FC236}">
                  <a16:creationId xmlns:a16="http://schemas.microsoft.com/office/drawing/2014/main" id="{F458406F-F18E-2849-A639-AE9BFD1FC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0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4172" name="Rectangle 100">
            <a:extLst>
              <a:ext uri="{FF2B5EF4-FFF2-40B4-BE49-F238E27FC236}">
                <a16:creationId xmlns:a16="http://schemas.microsoft.com/office/drawing/2014/main" id="{C797593B-C5D7-974A-A0F2-91E4C915D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2098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2         3</a:t>
            </a:r>
          </a:p>
        </p:txBody>
      </p:sp>
      <p:sp>
        <p:nvSpPr>
          <p:cNvPr id="4173" name="Line 101">
            <a:extLst>
              <a:ext uri="{FF2B5EF4-FFF2-40B4-BE49-F238E27FC236}">
                <a16:creationId xmlns:a16="http://schemas.microsoft.com/office/drawing/2014/main" id="{D6111D89-74B8-3D46-959E-18FD61B4F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74" name="Rectangle 102">
            <a:extLst>
              <a:ext uri="{FF2B5EF4-FFF2-40B4-BE49-F238E27FC236}">
                <a16:creationId xmlns:a16="http://schemas.microsoft.com/office/drawing/2014/main" id="{2913F9FB-DA08-7347-8901-218E6933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6670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3           9</a:t>
            </a:r>
          </a:p>
        </p:txBody>
      </p:sp>
      <p:sp>
        <p:nvSpPr>
          <p:cNvPr id="4175" name="Line 103">
            <a:extLst>
              <a:ext uri="{FF2B5EF4-FFF2-40B4-BE49-F238E27FC236}">
                <a16:creationId xmlns:a16="http://schemas.microsoft.com/office/drawing/2014/main" id="{27F0995A-81B4-264D-A5F7-6615ED79D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2667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76" name="Rectangle 104">
            <a:extLst>
              <a:ext uri="{FF2B5EF4-FFF2-40B4-BE49-F238E27FC236}">
                <a16:creationId xmlns:a16="http://schemas.microsoft.com/office/drawing/2014/main" id="{759E7F6A-4360-3543-B00A-5FA7EE4DB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1242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3           6</a:t>
            </a:r>
          </a:p>
        </p:txBody>
      </p:sp>
      <p:sp>
        <p:nvSpPr>
          <p:cNvPr id="4177" name="Line 105">
            <a:extLst>
              <a:ext uri="{FF2B5EF4-FFF2-40B4-BE49-F238E27FC236}">
                <a16:creationId xmlns:a16="http://schemas.microsoft.com/office/drawing/2014/main" id="{8C75E44D-2E7B-5142-9F3E-72342A791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78" name="Rectangle 107">
            <a:extLst>
              <a:ext uri="{FF2B5EF4-FFF2-40B4-BE49-F238E27FC236}">
                <a16:creationId xmlns:a16="http://schemas.microsoft.com/office/drawing/2014/main" id="{5DAD1E21-0DF4-1E48-ADEA-3D689EAA8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5814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6          7</a:t>
            </a:r>
          </a:p>
        </p:txBody>
      </p:sp>
      <p:sp>
        <p:nvSpPr>
          <p:cNvPr id="4179" name="Line 108">
            <a:extLst>
              <a:ext uri="{FF2B5EF4-FFF2-40B4-BE49-F238E27FC236}">
                <a16:creationId xmlns:a16="http://schemas.microsoft.com/office/drawing/2014/main" id="{5F1F3527-2D69-B34A-B330-E458711DC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581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80" name="Rectangle 109">
            <a:extLst>
              <a:ext uri="{FF2B5EF4-FFF2-40B4-BE49-F238E27FC236}">
                <a16:creationId xmlns:a16="http://schemas.microsoft.com/office/drawing/2014/main" id="{460304A8-9DCE-E447-AC90-E1C99C987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0386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7          8</a:t>
            </a:r>
          </a:p>
        </p:txBody>
      </p:sp>
      <p:sp>
        <p:nvSpPr>
          <p:cNvPr id="4181" name="Line 110">
            <a:extLst>
              <a:ext uri="{FF2B5EF4-FFF2-40B4-BE49-F238E27FC236}">
                <a16:creationId xmlns:a16="http://schemas.microsoft.com/office/drawing/2014/main" id="{8AA74983-3239-024D-8228-75ED3412C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038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82" name="Rectangle 111">
            <a:extLst>
              <a:ext uri="{FF2B5EF4-FFF2-40B4-BE49-F238E27FC236}">
                <a16:creationId xmlns:a16="http://schemas.microsoft.com/office/drawing/2014/main" id="{D76F638F-A31E-8041-9A9A-44BCE704F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4958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3          4</a:t>
            </a:r>
          </a:p>
        </p:txBody>
      </p:sp>
      <p:sp>
        <p:nvSpPr>
          <p:cNvPr id="4183" name="Line 112">
            <a:extLst>
              <a:ext uri="{FF2B5EF4-FFF2-40B4-BE49-F238E27FC236}">
                <a16:creationId xmlns:a16="http://schemas.microsoft.com/office/drawing/2014/main" id="{0A7C6D60-FAAD-C14F-BEB2-008B34501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495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84" name="Rectangle 113">
            <a:extLst>
              <a:ext uri="{FF2B5EF4-FFF2-40B4-BE49-F238E27FC236}">
                <a16:creationId xmlns:a16="http://schemas.microsoft.com/office/drawing/2014/main" id="{B1346975-5A84-F74D-871A-404B8B8F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953000"/>
            <a:ext cx="1371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 4         5</a:t>
            </a:r>
          </a:p>
        </p:txBody>
      </p:sp>
      <p:sp>
        <p:nvSpPr>
          <p:cNvPr id="4185" name="Line 114">
            <a:extLst>
              <a:ext uri="{FF2B5EF4-FFF2-40B4-BE49-F238E27FC236}">
                <a16:creationId xmlns:a16="http://schemas.microsoft.com/office/drawing/2014/main" id="{2A97AA3F-1EC5-F44E-80AA-FADFA1710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4953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4186" name="Rectangle 115">
            <a:extLst>
              <a:ext uri="{FF2B5EF4-FFF2-40B4-BE49-F238E27FC236}">
                <a16:creationId xmlns:a16="http://schemas.microsoft.com/office/drawing/2014/main" id="{1908FAFF-D8F9-624E-B5B3-C8AD044E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828800"/>
            <a:ext cx="3048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1</a:t>
            </a:r>
          </a:p>
        </p:txBody>
      </p:sp>
      <p:sp>
        <p:nvSpPr>
          <p:cNvPr id="4187" name="Rectangle 116">
            <a:extLst>
              <a:ext uri="{FF2B5EF4-FFF2-40B4-BE49-F238E27FC236}">
                <a16:creationId xmlns:a16="http://schemas.microsoft.com/office/drawing/2014/main" id="{311BC571-E7D6-D842-AD50-9CB05FE66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286000"/>
            <a:ext cx="3048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2</a:t>
            </a:r>
          </a:p>
        </p:txBody>
      </p:sp>
      <p:sp>
        <p:nvSpPr>
          <p:cNvPr id="4188" name="Rectangle 117">
            <a:extLst>
              <a:ext uri="{FF2B5EF4-FFF2-40B4-BE49-F238E27FC236}">
                <a16:creationId xmlns:a16="http://schemas.microsoft.com/office/drawing/2014/main" id="{C6C44FE1-390F-9044-B9F1-6F227171F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5029200"/>
            <a:ext cx="3048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n-1</a:t>
            </a:r>
          </a:p>
        </p:txBody>
      </p:sp>
      <p:sp>
        <p:nvSpPr>
          <p:cNvPr id="4189" name="Rectangle 118">
            <a:extLst>
              <a:ext uri="{FF2B5EF4-FFF2-40B4-BE49-F238E27FC236}">
                <a16:creationId xmlns:a16="http://schemas.microsoft.com/office/drawing/2014/main" id="{0562F7BB-1BC4-A34B-A38E-330A6A6E4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3200400"/>
            <a:ext cx="304800" cy="990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/>
              <a:t>.</a:t>
            </a:r>
          </a:p>
          <a:p>
            <a:pPr algn="ctr"/>
            <a:r>
              <a:rPr lang="en-US" altLang="en-US" b="1"/>
              <a:t>.</a:t>
            </a:r>
          </a:p>
          <a:p>
            <a:pPr algn="ctr"/>
            <a:r>
              <a:rPr lang="en-US" altLang="en-US" b="1"/>
              <a:t>.</a:t>
            </a:r>
          </a:p>
        </p:txBody>
      </p:sp>
      <p:sp>
        <p:nvSpPr>
          <p:cNvPr id="4190" name="Rectangle 119">
            <a:extLst>
              <a:ext uri="{FF2B5EF4-FFF2-40B4-BE49-F238E27FC236}">
                <a16:creationId xmlns:a16="http://schemas.microsoft.com/office/drawing/2014/main" id="{6CB17203-DF6D-B44D-A50D-99B8CD8A6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1447800"/>
            <a:ext cx="3048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1</a:t>
            </a:r>
          </a:p>
        </p:txBody>
      </p:sp>
      <p:sp>
        <p:nvSpPr>
          <p:cNvPr id="4191" name="Rectangle 120">
            <a:extLst>
              <a:ext uri="{FF2B5EF4-FFF2-40B4-BE49-F238E27FC236}">
                <a16:creationId xmlns:a16="http://schemas.microsoft.com/office/drawing/2014/main" id="{1D7C81D3-4682-5F43-AE8E-7A510F19B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1447800"/>
            <a:ext cx="3048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40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8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5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8" presetClass="emph" presetSubtype="0" repeatCount="3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8" presetClass="emph" presetSubtype="0" repeatCount="3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8" presetClass="emph" presetSubtype="0" repeatCount="3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8" presetClass="emph" presetSubtype="0" repeatCount="3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8" presetClass="emph" presetSubtype="0" repeatCount="3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7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8" presetClass="emph" presetSubtype="0" repeatCount="3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8" presetClass="emph" presetSubtype="0" repeatCount="3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" presetID="8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8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8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8" presetClass="emph" presetSubtype="0" repeatCount="3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8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3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8" presetClass="emph" presetSubtype="0" repeatCount="3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" presetID="8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8" presetClass="emph" presetSubtype="0" repeatCount="3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6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8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8" presetClass="emph" presetSubtype="0" repeatCount="3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" presetID="8" presetClass="emph" presetSubtype="0" repeatCount="3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4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49" presetID="23" presetClass="entr" presetSubtype="32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8" grpId="1"/>
      <p:bldP spid="28" grpId="2"/>
      <p:bldP spid="28" grpId="3"/>
      <p:bldP spid="28" grpId="4"/>
      <p:bldP spid="29" grpId="0"/>
      <p:bldP spid="30" grpId="0"/>
      <p:bldP spid="30" grpId="1"/>
      <p:bldP spid="30" grpId="2"/>
      <p:bldP spid="30" grpId="3"/>
      <p:bldP spid="31" grpId="0"/>
      <p:bldP spid="31" grpId="1"/>
      <p:bldP spid="31" grpId="2"/>
      <p:bldP spid="31" grpId="3"/>
      <p:bldP spid="32" grpId="0"/>
      <p:bldP spid="32" grpId="1"/>
      <p:bldP spid="33" grpId="0"/>
      <p:bldP spid="34" grpId="0"/>
      <p:bldP spid="35" grpId="0"/>
      <p:bldP spid="36" grpId="0"/>
      <p:bldP spid="36" grpId="1"/>
      <p:bldP spid="36" grpId="2"/>
      <p:bldP spid="37" grpId="0"/>
      <p:bldP spid="37" grpId="1"/>
      <p:bldP spid="37" grpId="2"/>
      <p:bldP spid="37" grpId="3"/>
      <p:bldP spid="37" grpId="4"/>
      <p:bldP spid="38" grpId="0"/>
      <p:bldP spid="38" grpId="1"/>
      <p:bldP spid="38" grpId="2"/>
      <p:bldP spid="38" grpId="3"/>
      <p:bldP spid="38" grpId="4"/>
      <p:bldP spid="38" grpId="5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/>
      <p:bldP spid="53" grpId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70" grpId="0" animBg="1"/>
      <p:bldP spid="71" grpId="0" animBg="1"/>
      <p:bldP spid="7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val 4">
            <a:extLst>
              <a:ext uri="{FF2B5EF4-FFF2-40B4-BE49-F238E27FC236}">
                <a16:creationId xmlns:a16="http://schemas.microsoft.com/office/drawing/2014/main" id="{CF115CC5-BED1-8049-A6E8-C0D867C89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9" y="1593850"/>
            <a:ext cx="287337" cy="287338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5123" name="Oval 5">
            <a:extLst>
              <a:ext uri="{FF2B5EF4-FFF2-40B4-BE49-F238E27FC236}">
                <a16:creationId xmlns:a16="http://schemas.microsoft.com/office/drawing/2014/main" id="{A1C189A2-F8EF-1241-B06F-FA220920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874714"/>
            <a:ext cx="287338" cy="287337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cxnSp>
        <p:nvCxnSpPr>
          <p:cNvPr id="5124" name="AutoShape 13">
            <a:extLst>
              <a:ext uri="{FF2B5EF4-FFF2-40B4-BE49-F238E27FC236}">
                <a16:creationId xmlns:a16="http://schemas.microsoft.com/office/drawing/2014/main" id="{EE0BA469-87E5-6C41-8AEC-95E2C39A63D5}"/>
              </a:ext>
            </a:extLst>
          </p:cNvPr>
          <p:cNvCxnSpPr>
            <a:cxnSpLocks noChangeShapeType="1"/>
            <a:stCxn id="5122" idx="7"/>
            <a:endCxn id="5123" idx="3"/>
          </p:cNvCxnSpPr>
          <p:nvPr/>
        </p:nvCxnSpPr>
        <p:spPr bwMode="auto">
          <a:xfrm flipV="1">
            <a:off x="2513014" y="1119189"/>
            <a:ext cx="517525" cy="517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5" name="Oval 40">
            <a:extLst>
              <a:ext uri="{FF2B5EF4-FFF2-40B4-BE49-F238E27FC236}">
                <a16:creationId xmlns:a16="http://schemas.microsoft.com/office/drawing/2014/main" id="{03F4C6D9-F9D8-D543-85A7-D94473A7C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541464"/>
            <a:ext cx="304800" cy="3635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5126" name="Oval 42">
            <a:extLst>
              <a:ext uri="{FF2B5EF4-FFF2-40B4-BE49-F238E27FC236}">
                <a16:creationId xmlns:a16="http://schemas.microsoft.com/office/drawing/2014/main" id="{BEBB2828-C9D4-0849-8F97-38B8A2A2F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264" y="873125"/>
            <a:ext cx="287337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5127" name="Oval 46">
            <a:extLst>
              <a:ext uri="{FF2B5EF4-FFF2-40B4-BE49-F238E27FC236}">
                <a16:creationId xmlns:a16="http://schemas.microsoft.com/office/drawing/2014/main" id="{6284C73A-1923-5442-8E3C-09CD20D79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4" y="48180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</a:p>
        </p:txBody>
      </p:sp>
      <p:sp>
        <p:nvSpPr>
          <p:cNvPr id="5128" name="Oval 49">
            <a:extLst>
              <a:ext uri="{FF2B5EF4-FFF2-40B4-BE49-F238E27FC236}">
                <a16:creationId xmlns:a16="http://schemas.microsoft.com/office/drawing/2014/main" id="{CCEF0B67-F3A5-8C4A-861A-A259BBAF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2178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6</a:t>
            </a:r>
          </a:p>
        </p:txBody>
      </p:sp>
      <p:sp>
        <p:nvSpPr>
          <p:cNvPr id="5129" name="Oval 51">
            <a:extLst>
              <a:ext uri="{FF2B5EF4-FFF2-40B4-BE49-F238E27FC236}">
                <a16:creationId xmlns:a16="http://schemas.microsoft.com/office/drawing/2014/main" id="{12F478AD-EDD6-9540-A5B6-9440BC4D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733800"/>
            <a:ext cx="287338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7</a:t>
            </a:r>
          </a:p>
        </p:txBody>
      </p:sp>
      <p:sp>
        <p:nvSpPr>
          <p:cNvPr id="5130" name="Oval 53">
            <a:extLst>
              <a:ext uri="{FF2B5EF4-FFF2-40B4-BE49-F238E27FC236}">
                <a16:creationId xmlns:a16="http://schemas.microsoft.com/office/drawing/2014/main" id="{A40766F3-AB5B-0640-A53E-27A7BA08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4" y="42846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8</a:t>
            </a:r>
          </a:p>
        </p:txBody>
      </p:sp>
      <p:sp>
        <p:nvSpPr>
          <p:cNvPr id="5131" name="Oval 55">
            <a:extLst>
              <a:ext uri="{FF2B5EF4-FFF2-40B4-BE49-F238E27FC236}">
                <a16:creationId xmlns:a16="http://schemas.microsoft.com/office/drawing/2014/main" id="{73837AB8-300D-7545-AE7B-0B1CBDB9D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4" y="21510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5132" name="Oval 57">
            <a:extLst>
              <a:ext uri="{FF2B5EF4-FFF2-40B4-BE49-F238E27FC236}">
                <a16:creationId xmlns:a16="http://schemas.microsoft.com/office/drawing/2014/main" id="{2A6DB781-D306-F247-8D02-748CC9816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4" y="2684464"/>
            <a:ext cx="287337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5133" name="Oval 59">
            <a:extLst>
              <a:ext uri="{FF2B5EF4-FFF2-40B4-BE49-F238E27FC236}">
                <a16:creationId xmlns:a16="http://schemas.microsoft.com/office/drawing/2014/main" id="{35E62E26-EFA3-D440-9DA8-6DCC8CFAC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4" y="1676400"/>
            <a:ext cx="287337" cy="287338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5134" name="Rectangle 60">
            <a:extLst>
              <a:ext uri="{FF2B5EF4-FFF2-40B4-BE49-F238E27FC236}">
                <a16:creationId xmlns:a16="http://schemas.microsoft.com/office/drawing/2014/main" id="{A5310A08-73A3-CC4A-A095-6195E34D2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7200"/>
            <a:ext cx="381000" cy="3048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t</a:t>
            </a:r>
          </a:p>
        </p:txBody>
      </p:sp>
      <p:sp>
        <p:nvSpPr>
          <p:cNvPr id="5135" name="Rectangle 61">
            <a:extLst>
              <a:ext uri="{FF2B5EF4-FFF2-40B4-BE49-F238E27FC236}">
                <a16:creationId xmlns:a16="http://schemas.microsoft.com/office/drawing/2014/main" id="{5EA14887-D256-244C-A323-0D637CB4E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71600"/>
            <a:ext cx="304800" cy="3048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k</a:t>
            </a:r>
          </a:p>
        </p:txBody>
      </p:sp>
      <p:sp>
        <p:nvSpPr>
          <p:cNvPr id="5136" name="Rectangle 62">
            <a:extLst>
              <a:ext uri="{FF2B5EF4-FFF2-40B4-BE49-F238E27FC236}">
                <a16:creationId xmlns:a16="http://schemas.microsoft.com/office/drawing/2014/main" id="{60BC45A5-BB14-AB43-A4F4-67C2A6945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762000"/>
            <a:ext cx="304800" cy="3048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i="1"/>
              <a:t>l</a:t>
            </a:r>
          </a:p>
        </p:txBody>
      </p:sp>
      <p:sp>
        <p:nvSpPr>
          <p:cNvPr id="5137" name="Rectangle 63">
            <a:extLst>
              <a:ext uri="{FF2B5EF4-FFF2-40B4-BE49-F238E27FC236}">
                <a16:creationId xmlns:a16="http://schemas.microsoft.com/office/drawing/2014/main" id="{4D5A71A5-88AD-7848-AD90-4B8313A4D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16764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near[3]=2</a:t>
            </a:r>
          </a:p>
        </p:txBody>
      </p:sp>
      <p:sp>
        <p:nvSpPr>
          <p:cNvPr id="5138" name="Rectangle 64">
            <a:extLst>
              <a:ext uri="{FF2B5EF4-FFF2-40B4-BE49-F238E27FC236}">
                <a16:creationId xmlns:a16="http://schemas.microsoft.com/office/drawing/2014/main" id="{45C133D6-D776-F146-AB66-3E5A28B9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1336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near[4]=1</a:t>
            </a:r>
          </a:p>
        </p:txBody>
      </p:sp>
      <p:sp>
        <p:nvSpPr>
          <p:cNvPr id="5139" name="Rectangle 65">
            <a:extLst>
              <a:ext uri="{FF2B5EF4-FFF2-40B4-BE49-F238E27FC236}">
                <a16:creationId xmlns:a16="http://schemas.microsoft.com/office/drawing/2014/main" id="{73047CEF-D429-D546-98EE-C3FEE633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670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near[5]=1</a:t>
            </a:r>
          </a:p>
        </p:txBody>
      </p:sp>
      <p:sp>
        <p:nvSpPr>
          <p:cNvPr id="5140" name="Rectangle 66">
            <a:extLst>
              <a:ext uri="{FF2B5EF4-FFF2-40B4-BE49-F238E27FC236}">
                <a16:creationId xmlns:a16="http://schemas.microsoft.com/office/drawing/2014/main" id="{B537BA92-4CD9-6441-A7EC-6AAC374F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242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near[6]=1</a:t>
            </a:r>
          </a:p>
        </p:txBody>
      </p:sp>
      <p:sp>
        <p:nvSpPr>
          <p:cNvPr id="5141" name="Rectangle 67">
            <a:extLst>
              <a:ext uri="{FF2B5EF4-FFF2-40B4-BE49-F238E27FC236}">
                <a16:creationId xmlns:a16="http://schemas.microsoft.com/office/drawing/2014/main" id="{2BD531FD-6A41-E54F-A54A-8428EA168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338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near[7]=1</a:t>
            </a:r>
          </a:p>
        </p:txBody>
      </p:sp>
      <p:sp>
        <p:nvSpPr>
          <p:cNvPr id="5142" name="Rectangle 68">
            <a:extLst>
              <a:ext uri="{FF2B5EF4-FFF2-40B4-BE49-F238E27FC236}">
                <a16:creationId xmlns:a16="http://schemas.microsoft.com/office/drawing/2014/main" id="{1E2606C4-E43B-8E47-9CBB-B497591A6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910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near[8]=1 </a:t>
            </a:r>
          </a:p>
        </p:txBody>
      </p:sp>
      <p:sp>
        <p:nvSpPr>
          <p:cNvPr id="5143" name="Rectangle 69">
            <a:extLst>
              <a:ext uri="{FF2B5EF4-FFF2-40B4-BE49-F238E27FC236}">
                <a16:creationId xmlns:a16="http://schemas.microsoft.com/office/drawing/2014/main" id="{91F0F96E-6916-AF4B-A3ED-331582070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724400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near[9]=1</a:t>
            </a:r>
          </a:p>
        </p:txBody>
      </p:sp>
      <p:sp>
        <p:nvSpPr>
          <p:cNvPr id="5144" name="Oval 71">
            <a:extLst>
              <a:ext uri="{FF2B5EF4-FFF2-40B4-BE49-F238E27FC236}">
                <a16:creationId xmlns:a16="http://schemas.microsoft.com/office/drawing/2014/main" id="{99C90377-8031-C440-AF66-6D905ABF0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892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 i="1">
                <a:latin typeface="Times New Roman" panose="02020603050405020304" pitchFamily="18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5145" name="Oval 72">
            <a:extLst>
              <a:ext uri="{FF2B5EF4-FFF2-40B4-BE49-F238E27FC236}">
                <a16:creationId xmlns:a16="http://schemas.microsoft.com/office/drawing/2014/main" id="{0FA55517-FE7E-9548-AEBB-0C5212292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32064"/>
            <a:ext cx="287338" cy="287337"/>
          </a:xfrm>
          <a:prstGeom prst="ellipse">
            <a:avLst/>
          </a:prstGeom>
          <a:solidFill>
            <a:srgbClr val="66FF33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kumimoji="1" lang="en-US" altLang="zh-TW">
                <a:latin typeface="Times New Roman" panose="02020603050405020304" pitchFamily="18" charset="0"/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5146" name="Rectangle 73">
            <a:extLst>
              <a:ext uri="{FF2B5EF4-FFF2-40B4-BE49-F238E27FC236}">
                <a16:creationId xmlns:a16="http://schemas.microsoft.com/office/drawing/2014/main" id="{582753C0-C48F-C04C-B7C3-96E0C6172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2532063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near[1]=0</a:t>
            </a:r>
          </a:p>
        </p:txBody>
      </p:sp>
      <p:sp>
        <p:nvSpPr>
          <p:cNvPr id="5147" name="Rectangle 74">
            <a:extLst>
              <a:ext uri="{FF2B5EF4-FFF2-40B4-BE49-F238E27FC236}">
                <a16:creationId xmlns:a16="http://schemas.microsoft.com/office/drawing/2014/main" id="{5D0C98D0-BD4B-3943-A943-03BC1040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2989263"/>
            <a:ext cx="9144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near[</a:t>
            </a:r>
            <a:r>
              <a:rPr lang="en-US" altLang="en-US" i="1"/>
              <a:t>2</a:t>
            </a:r>
            <a:r>
              <a:rPr lang="en-US" altLang="en-US"/>
              <a:t>]=0</a:t>
            </a:r>
          </a:p>
        </p:txBody>
      </p:sp>
      <p:sp>
        <p:nvSpPr>
          <p:cNvPr id="5148" name="Rectangle 75">
            <a:extLst>
              <a:ext uri="{FF2B5EF4-FFF2-40B4-BE49-F238E27FC236}">
                <a16:creationId xmlns:a16="http://schemas.microsoft.com/office/drawing/2014/main" id="{3FE9D85C-537E-7D47-AE0B-0002616AF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04800"/>
            <a:ext cx="5943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i="1"/>
              <a:t>1. near[j] is a vertex in the tree such that cost [j,near[j]] is</a:t>
            </a:r>
          </a:p>
          <a:p>
            <a:r>
              <a:rPr lang="en-US" altLang="en-US" b="1" i="1"/>
              <a:t>   minimum  among all choices for near[j]</a:t>
            </a:r>
          </a:p>
        </p:txBody>
      </p:sp>
      <p:sp>
        <p:nvSpPr>
          <p:cNvPr id="5149" name="Rectangle 76">
            <a:extLst>
              <a:ext uri="{FF2B5EF4-FFF2-40B4-BE49-F238E27FC236}">
                <a16:creationId xmlns:a16="http://schemas.microsoft.com/office/drawing/2014/main" id="{F4D8829C-2DE0-CD4F-A0BE-FE7F3E88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486400"/>
            <a:ext cx="5943600" cy="4572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 i="1"/>
              <a:t>2. Select next min cost edge.</a:t>
            </a:r>
          </a:p>
        </p:txBody>
      </p:sp>
      <p:sp>
        <p:nvSpPr>
          <p:cNvPr id="5150" name="Rectangle 77">
            <a:extLst>
              <a:ext uri="{FF2B5EF4-FFF2-40B4-BE49-F238E27FC236}">
                <a16:creationId xmlns:a16="http://schemas.microsoft.com/office/drawing/2014/main" id="{FFBEB2E5-2904-DF45-B99C-CE44D6F6B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143000"/>
            <a:ext cx="1752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cost[ j, near[j] ]</a:t>
            </a:r>
          </a:p>
        </p:txBody>
      </p:sp>
      <p:sp>
        <p:nvSpPr>
          <p:cNvPr id="5151" name="Rectangle 78">
            <a:extLst>
              <a:ext uri="{FF2B5EF4-FFF2-40B4-BE49-F238E27FC236}">
                <a16:creationId xmlns:a16="http://schemas.microsoft.com/office/drawing/2014/main" id="{8739ADBA-C394-1647-8EF2-EC4DF8BFF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990600"/>
            <a:ext cx="304800" cy="3048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/>
              <a:t>j</a:t>
            </a:r>
          </a:p>
        </p:txBody>
      </p:sp>
      <p:sp>
        <p:nvSpPr>
          <p:cNvPr id="5152" name="Line 79">
            <a:extLst>
              <a:ext uri="{FF2B5EF4-FFF2-40B4-BE49-F238E27FC236}">
                <a16:creationId xmlns:a16="http://schemas.microsoft.com/office/drawing/2014/main" id="{EFDD3F81-5C3F-BE4E-B5F2-0A3F71C6C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1371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153" name="Rectangle 80">
            <a:extLst>
              <a:ext uri="{FF2B5EF4-FFF2-40B4-BE49-F238E27FC236}">
                <a16:creationId xmlns:a16="http://schemas.microsoft.com/office/drawing/2014/main" id="{02D43AA0-9C02-F149-8E4A-F2EC90092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676400"/>
            <a:ext cx="1752600" cy="22860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cost[ 3,2 ]=8</a:t>
            </a:r>
          </a:p>
        </p:txBody>
      </p:sp>
      <p:grpSp>
        <p:nvGrpSpPr>
          <p:cNvPr id="2" name="Group 87">
            <a:extLst>
              <a:ext uri="{FF2B5EF4-FFF2-40B4-BE49-F238E27FC236}">
                <a16:creationId xmlns:a16="http://schemas.microsoft.com/office/drawing/2014/main" id="{92AE1801-5EE6-9B42-A27F-4893D92C6B0A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2133600"/>
            <a:ext cx="1905000" cy="2819400"/>
            <a:chOff x="3648" y="1344"/>
            <a:chExt cx="1200" cy="1776"/>
          </a:xfrm>
        </p:grpSpPr>
        <p:sp>
          <p:nvSpPr>
            <p:cNvPr id="5161" name="Rectangle 81">
              <a:extLst>
                <a:ext uri="{FF2B5EF4-FFF2-40B4-BE49-F238E27FC236}">
                  <a16:creationId xmlns:a16="http://schemas.microsoft.com/office/drawing/2014/main" id="{8C56658C-7B2D-FF4D-9DCE-B5A9110FF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344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cost[ 4,1 ]= ∞</a:t>
              </a:r>
            </a:p>
          </p:txBody>
        </p:sp>
        <p:sp>
          <p:nvSpPr>
            <p:cNvPr id="5162" name="Rectangle 82">
              <a:extLst>
                <a:ext uri="{FF2B5EF4-FFF2-40B4-BE49-F238E27FC236}">
                  <a16:creationId xmlns:a16="http://schemas.microsoft.com/office/drawing/2014/main" id="{CA35FF3D-1819-7B4F-B628-0872D3526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0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cost[ 8,1 ]=8</a:t>
              </a:r>
            </a:p>
          </p:txBody>
        </p:sp>
        <p:sp>
          <p:nvSpPr>
            <p:cNvPr id="5163" name="Rectangle 83">
              <a:extLst>
                <a:ext uri="{FF2B5EF4-FFF2-40B4-BE49-F238E27FC236}">
                  <a16:creationId xmlns:a16="http://schemas.microsoft.com/office/drawing/2014/main" id="{97445F61-7F60-6A42-9516-9F900C8A5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632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 cost[ 5,1 ]= ∞</a:t>
              </a:r>
            </a:p>
          </p:txBody>
        </p:sp>
        <p:sp>
          <p:nvSpPr>
            <p:cNvPr id="5164" name="Rectangle 84">
              <a:extLst>
                <a:ext uri="{FF2B5EF4-FFF2-40B4-BE49-F238E27FC236}">
                  <a16:creationId xmlns:a16="http://schemas.microsoft.com/office/drawing/2014/main" id="{87DA3DC3-0011-6B48-AA32-98441D9A2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920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cost[ 6,1 ]= ∞</a:t>
              </a:r>
            </a:p>
          </p:txBody>
        </p:sp>
        <p:sp>
          <p:nvSpPr>
            <p:cNvPr id="5165" name="Rectangle 85">
              <a:extLst>
                <a:ext uri="{FF2B5EF4-FFF2-40B4-BE49-F238E27FC236}">
                  <a16:creationId xmlns:a16="http://schemas.microsoft.com/office/drawing/2014/main" id="{4948B7B0-AE09-4749-AE52-2AE7A0AB3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52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cost[ 7,1 ]= ∞</a:t>
              </a:r>
            </a:p>
          </p:txBody>
        </p:sp>
        <p:sp>
          <p:nvSpPr>
            <p:cNvPr id="5166" name="Rectangle 86">
              <a:extLst>
                <a:ext uri="{FF2B5EF4-FFF2-40B4-BE49-F238E27FC236}">
                  <a16:creationId xmlns:a16="http://schemas.microsoft.com/office/drawing/2014/main" id="{4BD76520-138B-F041-8A4C-43FD8E640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76"/>
              <a:ext cx="1104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cost[ 9,1 ]= ∞</a:t>
              </a:r>
            </a:p>
          </p:txBody>
        </p:sp>
      </p:grpSp>
      <p:grpSp>
        <p:nvGrpSpPr>
          <p:cNvPr id="3" name="Group 90">
            <a:extLst>
              <a:ext uri="{FF2B5EF4-FFF2-40B4-BE49-F238E27FC236}">
                <a16:creationId xmlns:a16="http://schemas.microsoft.com/office/drawing/2014/main" id="{33B7F76A-0ABD-E847-B6E8-7DE200876C8D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855664"/>
            <a:ext cx="1125538" cy="287337"/>
            <a:chOff x="1200" y="539"/>
            <a:chExt cx="709" cy="181"/>
          </a:xfrm>
        </p:grpSpPr>
        <p:sp>
          <p:nvSpPr>
            <p:cNvPr id="5159" name="Oval 88">
              <a:extLst>
                <a:ext uri="{FF2B5EF4-FFF2-40B4-BE49-F238E27FC236}">
                  <a16:creationId xmlns:a16="http://schemas.microsoft.com/office/drawing/2014/main" id="{0EF6E1DC-0086-D440-ADEE-F35457C07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539"/>
              <a:ext cx="181" cy="181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5160" name="Line 89">
              <a:extLst>
                <a:ext uri="{FF2B5EF4-FFF2-40B4-BE49-F238E27FC236}">
                  <a16:creationId xmlns:a16="http://schemas.microsoft.com/office/drawing/2014/main" id="{A5DB7C47-7935-5E4A-A066-7C449BD76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62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grpSp>
        <p:nvGrpSpPr>
          <p:cNvPr id="4" name="Group 93">
            <a:extLst>
              <a:ext uri="{FF2B5EF4-FFF2-40B4-BE49-F238E27FC236}">
                <a16:creationId xmlns:a16="http://schemas.microsoft.com/office/drawing/2014/main" id="{AA8CDE24-E4C4-D546-B1E9-B7A8F53660D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522664"/>
            <a:ext cx="1811338" cy="287337"/>
            <a:chOff x="288" y="2219"/>
            <a:chExt cx="1141" cy="181"/>
          </a:xfrm>
        </p:grpSpPr>
        <p:sp>
          <p:nvSpPr>
            <p:cNvPr id="5157" name="Oval 91">
              <a:extLst>
                <a:ext uri="{FF2B5EF4-FFF2-40B4-BE49-F238E27FC236}">
                  <a16:creationId xmlns:a16="http://schemas.microsoft.com/office/drawing/2014/main" id="{0FC7A96C-2B92-3E42-8DB4-DF39279CB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219"/>
              <a:ext cx="181" cy="181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kumimoji="1" lang="en-US" altLang="zh-TW" i="1">
                  <a:latin typeface="Times New Roman" panose="02020603050405020304" pitchFamily="18" charset="0"/>
                  <a:ea typeface="新細明體" panose="02020500000000000000" pitchFamily="18" charset="-120"/>
                </a:rPr>
                <a:t>3</a:t>
              </a:r>
            </a:p>
          </p:txBody>
        </p:sp>
        <p:sp>
          <p:nvSpPr>
            <p:cNvPr id="5158" name="Rectangle 92">
              <a:extLst>
                <a:ext uri="{FF2B5EF4-FFF2-40B4-BE49-F238E27FC236}">
                  <a16:creationId xmlns:a16="http://schemas.microsoft.com/office/drawing/2014/main" id="{DA07DD24-0DF5-6745-80F8-88FA72544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" y="2219"/>
              <a:ext cx="576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/>
                <a:t>near[</a:t>
              </a:r>
              <a:r>
                <a:rPr lang="en-US" altLang="en-US" i="1"/>
                <a:t>3</a:t>
              </a:r>
              <a:r>
                <a:rPr lang="en-US" altLang="en-US"/>
                <a:t>]=0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782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2FE233C-EF42-1840-8233-9AA937E15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52400"/>
            <a:ext cx="86106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Prim’s Algorithm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endParaRPr lang="en-US" sz="2400" kern="0" dirty="0">
              <a:solidFill>
                <a:schemeClr val="hlink"/>
              </a:solidFill>
              <a:latin typeface="Times New Roman" pitchFamily="18" charset="0"/>
              <a:cs typeface="Times New Roman" pitchFamily="18" charset="0"/>
            </a:endParaRP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1	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lang="en-US" sz="2400" kern="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Prim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(E, cost, n, t)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2	// E is the set of edges in G.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Tx/>
              <a:buAutoNum type="arabicPlain" startAt="3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//cost[1:n,1:n] is the cost matrix such that cost[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 is either  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4          // positive real number  or ∞ if no edge (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) exists.  cost[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i,j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]=0, if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=j.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5	// A minimum spanning tree is computed and stored 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6	// as a set of edges in the array t[1:n-1,1:2]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7	{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8	      Let (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k,</a:t>
            </a:r>
            <a:r>
              <a:rPr lang="en-US" sz="2400" i="1" kern="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) be an edge of minimum cost in E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9		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mincost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=cost[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k,</a:t>
            </a:r>
            <a:r>
              <a:rPr lang="en-US" sz="2400" i="1" kern="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Tx/>
              <a:buAutoNum type="arabicPlain" startAt="10"/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t[1,1]=k; t[1,2]=</a:t>
            </a:r>
            <a:r>
              <a:rPr lang="en-US" sz="2400" i="1" kern="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Tx/>
              <a:buAutoNum type="arabicPlain" startAt="10"/>
              <a:defRPr/>
            </a:pP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4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=1 </a:t>
            </a:r>
            <a:r>
              <a:rPr lang="en-US" sz="24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	// initialize  near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buFontTx/>
              <a:buAutoNum type="arabicPlain" startAt="12"/>
              <a:defRPr/>
            </a:pP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(  cost[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i,l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]&lt; cost[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, k]  </a:t>
            </a: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near[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]=l</a:t>
            </a:r>
            <a:r>
              <a:rPr lang="en-US" sz="2400" i="1" kern="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      			</a:t>
            </a:r>
            <a:r>
              <a:rPr lang="en-US" sz="24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en-US" sz="2400" kern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 near[</a:t>
            </a:r>
            <a:r>
              <a:rPr lang="en-US" sz="2400" kern="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]= k;</a:t>
            </a:r>
          </a:p>
          <a:p>
            <a:pPr marL="609600" indent="-6096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13  near[k]=near[</a:t>
            </a:r>
            <a:r>
              <a:rPr lang="en-US" sz="2400" i="1" kern="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]=0;</a:t>
            </a:r>
            <a:endParaRPr lang="en-US" sz="2400" kern="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66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2CBEB86-903F-4F4E-A9AA-EEB8C132D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04800"/>
            <a:ext cx="8610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/>
              <a:t>14  	</a:t>
            </a:r>
            <a:r>
              <a:rPr lang="en-US" sz="2000" kern="0" dirty="0">
                <a:solidFill>
                  <a:srgbClr val="FF0000"/>
                </a:solidFill>
              </a:rPr>
              <a:t>for</a:t>
            </a:r>
            <a:r>
              <a:rPr lang="en-US" sz="2000" kern="0" dirty="0"/>
              <a:t> </a:t>
            </a:r>
            <a:r>
              <a:rPr lang="en-US" sz="2000" kern="0" dirty="0" err="1"/>
              <a:t>i</a:t>
            </a:r>
            <a:r>
              <a:rPr lang="en-US" sz="2000" kern="0" dirty="0"/>
              <a:t>=2</a:t>
            </a:r>
            <a:r>
              <a:rPr lang="en-US" sz="2000" kern="0" dirty="0">
                <a:solidFill>
                  <a:srgbClr val="FF0000"/>
                </a:solidFill>
              </a:rPr>
              <a:t> to </a:t>
            </a:r>
            <a:r>
              <a:rPr lang="en-US" sz="2000" kern="0" dirty="0"/>
              <a:t>n-1 </a:t>
            </a:r>
            <a:r>
              <a:rPr lang="en-US" sz="2000" kern="0" dirty="0">
                <a:solidFill>
                  <a:srgbClr val="FF0000"/>
                </a:solidFill>
              </a:rPr>
              <a:t>do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/>
              <a:t>15	        {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rabicPlain" startAt="16"/>
              <a:defRPr/>
            </a:pPr>
            <a:r>
              <a:rPr lang="en-US" sz="2000" i="1" kern="0" dirty="0"/>
              <a:t>               // Find n-1 additional edges for t.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i="1" kern="0" dirty="0"/>
              <a:t> 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/>
              <a:t>17			Let j be an index such that near[j]</a:t>
            </a:r>
            <a:r>
              <a:rPr lang="en-US" sz="2000" kern="0" dirty="0">
                <a:cs typeface="Times New Roman" pitchFamily="18" charset="0"/>
              </a:rPr>
              <a:t>≠0 and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rabicPlain" startAt="18"/>
              <a:defRPr/>
            </a:pPr>
            <a:r>
              <a:rPr lang="en-US" sz="2000" kern="0" dirty="0">
                <a:cs typeface="Times New Roman" pitchFamily="18" charset="0"/>
              </a:rPr>
              <a:t>                   cost[</a:t>
            </a:r>
            <a:r>
              <a:rPr lang="en-US" sz="2000" kern="0" dirty="0" err="1">
                <a:cs typeface="Times New Roman" pitchFamily="18" charset="0"/>
              </a:rPr>
              <a:t>j,near</a:t>
            </a:r>
            <a:r>
              <a:rPr lang="en-US" sz="2000" kern="0" dirty="0">
                <a:cs typeface="Times New Roman" pitchFamily="18" charset="0"/>
              </a:rPr>
              <a:t>[j]] is minimum;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endParaRPr lang="en-US" sz="2000" kern="0" dirty="0"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19			t[i,1]=j; t[i,2]=near[j];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20			</a:t>
            </a:r>
            <a:r>
              <a:rPr lang="en-US" sz="2000" kern="0" dirty="0" err="1">
                <a:cs typeface="Times New Roman" pitchFamily="18" charset="0"/>
              </a:rPr>
              <a:t>mincost</a:t>
            </a:r>
            <a:r>
              <a:rPr lang="en-US" sz="2000" kern="0" dirty="0">
                <a:cs typeface="Times New Roman" pitchFamily="18" charset="0"/>
              </a:rPr>
              <a:t>=</a:t>
            </a:r>
            <a:r>
              <a:rPr lang="en-US" sz="2000" kern="0" dirty="0" err="1">
                <a:cs typeface="Times New Roman" pitchFamily="18" charset="0"/>
              </a:rPr>
              <a:t>mincost+cost</a:t>
            </a:r>
            <a:r>
              <a:rPr lang="en-US" sz="2000" kern="0" dirty="0">
                <a:cs typeface="Times New Roman" pitchFamily="18" charset="0"/>
              </a:rPr>
              <a:t>[</a:t>
            </a:r>
            <a:r>
              <a:rPr lang="en-US" sz="2000" kern="0" dirty="0" err="1">
                <a:cs typeface="Times New Roman" pitchFamily="18" charset="0"/>
              </a:rPr>
              <a:t>j,near</a:t>
            </a:r>
            <a:r>
              <a:rPr lang="en-US" sz="2000" kern="0" dirty="0">
                <a:cs typeface="Times New Roman" pitchFamily="18" charset="0"/>
              </a:rPr>
              <a:t>[j]];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rabicPlain" startAt="21"/>
              <a:defRPr/>
            </a:pPr>
            <a:r>
              <a:rPr lang="en-US" sz="2000" kern="0" dirty="0">
                <a:cs typeface="Times New Roman" pitchFamily="18" charset="0"/>
              </a:rPr>
              <a:t>                   near[j]=0;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endParaRPr lang="en-US" sz="2000" kern="0" dirty="0">
              <a:cs typeface="Times New Roman" pitchFamily="18" charset="0"/>
            </a:endParaRP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22			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for</a:t>
            </a:r>
            <a:r>
              <a:rPr lang="en-US" sz="2000" kern="0" dirty="0">
                <a:cs typeface="Times New Roman" pitchFamily="18" charset="0"/>
              </a:rPr>
              <a:t> k=1 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to </a:t>
            </a:r>
            <a:r>
              <a:rPr lang="en-US" sz="2000" kern="0" dirty="0">
                <a:cs typeface="Times New Roman" pitchFamily="18" charset="0"/>
              </a:rPr>
              <a:t>n 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do</a:t>
            </a:r>
            <a:r>
              <a:rPr lang="en-US" sz="2000" kern="0" dirty="0">
                <a:solidFill>
                  <a:schemeClr val="hlink"/>
                </a:solidFill>
                <a:cs typeface="Times New Roman" pitchFamily="18" charset="0"/>
              </a:rPr>
              <a:t> </a:t>
            </a:r>
            <a:r>
              <a:rPr lang="en-US" sz="2000" kern="0" dirty="0">
                <a:cs typeface="Times New Roman" pitchFamily="18" charset="0"/>
              </a:rPr>
              <a:t> // update near[]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23			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if</a:t>
            </a:r>
            <a:r>
              <a:rPr lang="en-US" sz="2000" kern="0" dirty="0">
                <a:cs typeface="Times New Roman" pitchFamily="18" charset="0"/>
              </a:rPr>
              <a:t>( ( near[k] ≠0 ) and (cost[</a:t>
            </a:r>
            <a:r>
              <a:rPr lang="en-US" sz="2000" kern="0" dirty="0" err="1">
                <a:cs typeface="Times New Roman" pitchFamily="18" charset="0"/>
              </a:rPr>
              <a:t>k,near</a:t>
            </a:r>
            <a:r>
              <a:rPr lang="en-US" sz="2000" kern="0" dirty="0">
                <a:cs typeface="Times New Roman" pitchFamily="18" charset="0"/>
              </a:rPr>
              <a:t>[k]&gt;cost[</a:t>
            </a:r>
            <a:r>
              <a:rPr lang="en-US" sz="2000" kern="0" dirty="0" err="1">
                <a:cs typeface="Times New Roman" pitchFamily="18" charset="0"/>
              </a:rPr>
              <a:t>k,j</a:t>
            </a:r>
            <a:r>
              <a:rPr lang="en-US" sz="2000" kern="0" dirty="0">
                <a:cs typeface="Times New Roman" pitchFamily="18" charset="0"/>
              </a:rPr>
              <a:t>]))  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then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24				near[k]=j;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25		}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26 </a:t>
            </a:r>
            <a:r>
              <a:rPr lang="en-US" sz="2000" kern="0" dirty="0">
                <a:solidFill>
                  <a:srgbClr val="FF0000"/>
                </a:solidFill>
                <a:cs typeface="Times New Roman" pitchFamily="18" charset="0"/>
              </a:rPr>
              <a:t> return </a:t>
            </a:r>
            <a:r>
              <a:rPr lang="en-US" sz="2000" kern="0" dirty="0" err="1">
                <a:cs typeface="Times New Roman" pitchFamily="18" charset="0"/>
              </a:rPr>
              <a:t>mincost</a:t>
            </a:r>
            <a:r>
              <a:rPr lang="en-US" sz="2000" kern="0" dirty="0">
                <a:cs typeface="Times New Roman" pitchFamily="18" charset="0"/>
              </a:rPr>
              <a:t>;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kern="0" dirty="0">
                <a:cs typeface="Times New Roman" pitchFamily="18" charset="0"/>
              </a:rPr>
              <a:t>27 }</a:t>
            </a:r>
          </a:p>
        </p:txBody>
      </p:sp>
    </p:spTree>
    <p:extLst>
      <p:ext uri="{BB962C8B-B14F-4D97-AF65-F5344CB8AC3E}">
        <p14:creationId xmlns:p14="http://schemas.microsoft.com/office/powerpoint/2010/main" val="3190995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D8AF0BD-16D3-5743-A822-6C6C636E3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r>
              <a:rPr lang="en-US" altLang="en-US" sz="3600">
                <a:solidFill>
                  <a:srgbClr val="7030A0"/>
                </a:solidFill>
              </a:rPr>
              <a:t>Time complexity of Prims algorithm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D1594D2-3F48-E54B-ADD1-D317229DE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219200"/>
            <a:ext cx="7772400" cy="4876800"/>
          </a:xfrm>
        </p:spPr>
        <p:txBody>
          <a:bodyPr/>
          <a:lstStyle/>
          <a:p>
            <a:r>
              <a:rPr lang="en-US" altLang="en-US"/>
              <a:t>Line </a:t>
            </a:r>
            <a:r>
              <a:rPr lang="en-US" altLang="en-US">
                <a:solidFill>
                  <a:srgbClr val="FF0000"/>
                </a:solidFill>
              </a:rPr>
              <a:t>8</a:t>
            </a:r>
            <a:r>
              <a:rPr lang="en-US" altLang="en-US"/>
              <a:t> takes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(E)</a:t>
            </a:r>
            <a:r>
              <a:rPr lang="en-US" altLang="en-US">
                <a:solidFill>
                  <a:schemeClr val="hlink"/>
                </a:solidFill>
              </a:rPr>
              <a:t>.</a:t>
            </a:r>
          </a:p>
          <a:p>
            <a:r>
              <a:rPr lang="en-US" altLang="en-US"/>
              <a:t>The for loop of line </a:t>
            </a:r>
            <a:r>
              <a:rPr lang="en-US" altLang="en-US">
                <a:solidFill>
                  <a:srgbClr val="FF0000"/>
                </a:solidFill>
              </a:rPr>
              <a:t>12</a:t>
            </a:r>
            <a:r>
              <a:rPr lang="en-US" altLang="en-US"/>
              <a:t> takes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(n)</a:t>
            </a:r>
            <a:r>
              <a:rPr lang="en-US" altLang="en-US">
                <a:solidFill>
                  <a:schemeClr val="hlink"/>
                </a:solidFill>
              </a:rPr>
              <a:t>.</a:t>
            </a:r>
          </a:p>
          <a:p>
            <a:r>
              <a:rPr lang="en-US" altLang="en-US">
                <a:solidFill>
                  <a:srgbClr val="FF0000"/>
                </a:solidFill>
              </a:rPr>
              <a:t>17</a:t>
            </a:r>
            <a:r>
              <a:rPr lang="en-US" altLang="en-US"/>
              <a:t> and </a:t>
            </a:r>
            <a:r>
              <a:rPr lang="en-US" altLang="en-US">
                <a:solidFill>
                  <a:srgbClr val="FF0000"/>
                </a:solidFill>
              </a:rPr>
              <a:t>18</a:t>
            </a:r>
            <a:r>
              <a:rPr lang="en-US" altLang="en-US"/>
              <a:t> and the for loop of line </a:t>
            </a:r>
            <a:r>
              <a:rPr lang="en-US" altLang="en-US">
                <a:solidFill>
                  <a:srgbClr val="FF0000"/>
                </a:solidFill>
              </a:rPr>
              <a:t>22</a:t>
            </a:r>
            <a:r>
              <a:rPr lang="en-US" altLang="en-US"/>
              <a:t> require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(n)</a:t>
            </a:r>
            <a:r>
              <a:rPr lang="en-US" altLang="en-US"/>
              <a:t> time.</a:t>
            </a:r>
          </a:p>
          <a:p>
            <a:r>
              <a:rPr lang="en-US" altLang="en-US"/>
              <a:t>Each iteration of the for loop of line </a:t>
            </a:r>
            <a:r>
              <a:rPr lang="en-US" altLang="en-US">
                <a:solidFill>
                  <a:srgbClr val="FF0000"/>
                </a:solidFill>
              </a:rPr>
              <a:t>14</a:t>
            </a:r>
            <a:r>
              <a:rPr lang="en-US" altLang="en-US"/>
              <a:t> takes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(n)</a:t>
            </a:r>
            <a:r>
              <a:rPr lang="en-US" altLang="en-US"/>
              <a:t> time.</a:t>
            </a:r>
          </a:p>
          <a:p>
            <a:r>
              <a:rPr lang="en-US" altLang="en-US"/>
              <a:t>Therefore, the total time for the  for loop of line </a:t>
            </a:r>
            <a:r>
              <a:rPr lang="en-US" altLang="en-US">
                <a:solidFill>
                  <a:srgbClr val="FF0000"/>
                </a:solidFill>
              </a:rPr>
              <a:t>14</a:t>
            </a:r>
            <a:r>
              <a:rPr lang="en-US" altLang="en-US"/>
              <a:t> is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(n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chemeClr val="hlink"/>
                </a:solidFill>
              </a:rPr>
              <a:t>).</a:t>
            </a:r>
          </a:p>
          <a:p>
            <a:r>
              <a:rPr lang="en-US" altLang="en-US"/>
              <a:t>Hence, time complexity of Prim is </a:t>
            </a:r>
            <a:r>
              <a:rPr lang="en-US" altLang="en-US" i="1">
                <a:solidFill>
                  <a:srgbClr val="FF0000"/>
                </a:solidFill>
              </a:rPr>
              <a:t>o</a:t>
            </a:r>
            <a:r>
              <a:rPr lang="en-US" altLang="en-US">
                <a:solidFill>
                  <a:srgbClr val="FF0000"/>
                </a:solidFill>
              </a:rPr>
              <a:t>(n</a:t>
            </a:r>
            <a:r>
              <a:rPr lang="en-US" altLang="en-US" baseline="30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).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96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1381</Words>
  <Application>Microsoft Office PowerPoint</Application>
  <PresentationFormat>Widescreen</PresentationFormat>
  <Paragraphs>352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新細明體</vt:lpstr>
      <vt:lpstr>Arial</vt:lpstr>
      <vt:lpstr>Calibri</vt:lpstr>
      <vt:lpstr>Comic Sans MS</vt:lpstr>
      <vt:lpstr>Courier New</vt:lpstr>
      <vt:lpstr>Times New Roman</vt:lpstr>
      <vt:lpstr>Office Theme</vt:lpstr>
      <vt:lpstr>Properties of a Spanning Tree</vt:lpstr>
      <vt:lpstr>PowerPoint Presentation</vt:lpstr>
      <vt:lpstr>Minimum Cost  Spanning Tree (MST)</vt:lpstr>
      <vt:lpstr>Kruskal’s Algorithm</vt:lpstr>
      <vt:lpstr>PowerPoint Presentation</vt:lpstr>
      <vt:lpstr>Early form of minimum cost spanning tree alg</vt:lpstr>
      <vt:lpstr>MST-Kruskal’s Algorithm </vt:lpstr>
      <vt:lpstr>PowerPoint Presentation</vt:lpstr>
      <vt:lpstr>Time complexity of kruskal’s algorithm</vt:lpstr>
      <vt:lpstr>MST-Prim’s Algorithm</vt:lpstr>
      <vt:lpstr>Prim’s Algorithm</vt:lpstr>
      <vt:lpstr>PowerPoint Presentation</vt:lpstr>
      <vt:lpstr>PowerPoint Presentation</vt:lpstr>
      <vt:lpstr>PowerPoint Presentation</vt:lpstr>
      <vt:lpstr>Time complexity of Prims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G Arunkumar</dc:creator>
  <cp:lastModifiedBy>Dr. Arunkumar Gopu</cp:lastModifiedBy>
  <cp:revision>24</cp:revision>
  <dcterms:created xsi:type="dcterms:W3CDTF">2020-05-31T19:50:16Z</dcterms:created>
  <dcterms:modified xsi:type="dcterms:W3CDTF">2024-04-29T03:54:09Z</dcterms:modified>
</cp:coreProperties>
</file>